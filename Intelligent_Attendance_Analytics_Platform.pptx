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8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800" b="0" i="0" u="none" strike="noStrike">
                <a:solidFill>
                  <a:srgbClr val="000000"/>
                </a:solidFill>
                <a:latin typeface="Arial" panose="020B0604020202020204"/>
              </a:rPr>
              <a:t>Class Attendance Trend (Weekly %)</a:t>
            </a:r>
            <a:endParaRPr sz="800" b="0" i="0" u="none" strike="noStrike">
              <a:solidFill>
                <a:srgbClr val="00000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Attendance %</c:v>
                </c:pt>
              </c:strCache>
            </c:strRef>
          </c:tx>
          <c:spPr>
            <a:solidFill>
              <a:srgbClr val="0066CC"/>
            </a:solidFill>
            <a:effectLst/>
          </c:spPr>
          <c:invertIfNegative val="0"/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</c:v>
                </c:pt>
                <c:pt idx="1">
                  <c:v>93</c:v>
                </c:pt>
                <c:pt idx="2">
                  <c:v>89</c:v>
                </c:pt>
                <c:pt idx="3">
                  <c:v>88</c:v>
                </c:pt>
                <c:pt idx="4">
                  <c:v>86</c:v>
                </c:pt>
                <c:pt idx="5">
                  <c:v>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00000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64b9da1e-c4f3-42bf-aced-b923e97adc5b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3" name="Shape 1"/>
          <p:cNvSpPr/>
          <p:nvPr/>
        </p:nvSpPr>
        <p:spPr>
          <a:xfrm>
            <a:off x="0" y="91440"/>
            <a:ext cx="12188952" cy="73152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4" name="Text 2"/>
          <p:cNvSpPr/>
          <p:nvPr/>
        </p:nvSpPr>
        <p:spPr>
          <a:xfrm>
            <a:off x="548640" y="22860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KL UNIVERSITY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0" y="320040"/>
            <a:ext cx="7498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E2E8F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Intelligent Attendance Analytics Platform with Fraud Detection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7" name="Text 5"/>
          <p:cNvSpPr/>
          <p:nvPr/>
        </p:nvSpPr>
        <p:spPr>
          <a:xfrm>
            <a:off x="548640" y="6291072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Novelty: Our system does not merely record attendance. It intelligently analyzes attendance records using DSA concepts to detect suspicious patterns, duplicate entries, and possible proxy attendance by assigning a fraud score and generating analytics for faculty review.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3" name="Shape 1"/>
          <p:cNvSpPr/>
          <p:nvPr/>
        </p:nvSpPr>
        <p:spPr>
          <a:xfrm>
            <a:off x="228600" y="0"/>
            <a:ext cx="137160" cy="68580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4" name="Shape 2"/>
          <p:cNvSpPr/>
          <p:nvPr/>
        </p:nvSpPr>
        <p:spPr>
          <a:xfrm>
            <a:off x="7772400" y="0"/>
            <a:ext cx="4389120" cy="6858000"/>
          </a:xfrm>
          <a:prstGeom prst="rect">
            <a:avLst/>
          </a:prstGeom>
          <a:solidFill>
            <a:srgbClr val="061626"/>
          </a:solidFill>
        </p:spPr>
      </p:sp>
      <p:sp>
        <p:nvSpPr>
          <p:cNvPr id="5" name="Shape 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6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DEPARTMENT OF COMPUTER SCIENCE &amp; ENGINEERING  •  KL UNIVERSITY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685800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INTELLIGENT ATTENDANCE ANALYTICS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PLATFORM WITH FRAUD DETECTION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063240"/>
            <a:ext cx="6858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B6CB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DSA Mini Project – Review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65836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BD5E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 Graph- &amp; HashMap-backed student attendance analytics system that assigns a fraud score to detect proxy entries, duplicate records, and suspicious logs in real-time.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4389120"/>
            <a:ext cx="3108960" cy="1737360"/>
          </a:xfrm>
          <a:prstGeom prst="rect">
            <a:avLst/>
          </a:prstGeom>
          <a:solidFill>
            <a:srgbClr val="061626">
              <a:alpha val="80000"/>
            </a:srgbClr>
          </a:solidFill>
          <a:ln w="19050">
            <a:solidFill>
              <a:srgbClr val="0066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480560"/>
            <a:ext cx="283464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Guide: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Mrs. Anitha Patil Madam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Department of CSE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KL University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0" y="1645920"/>
            <a:ext cx="3657600" cy="4023360"/>
          </a:xfrm>
          <a:prstGeom prst="rect">
            <a:avLst/>
          </a:prstGeom>
          <a:solidFill>
            <a:srgbClr val="0A2540">
              <a:alpha val="70000"/>
            </a:srgbClr>
          </a:solidFill>
          <a:ln w="19050">
            <a:solidFill>
              <a:srgbClr val="2B6C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0" y="1828800"/>
            <a:ext cx="3291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Presented By (Team Members):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0" y="228600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2510030289 - Sharath (Lead)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2606040"/>
            <a:ext cx="3291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CSE Department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0" y="310896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2510030290 - Hansih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3429000"/>
            <a:ext cx="3291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CSE Department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229600" y="393192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2510030415 - Anish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0" y="4251960"/>
            <a:ext cx="3291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CSE Department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29600" y="475488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2510030110 - Rishi Teja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5074920"/>
            <a:ext cx="32918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CSE Department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6" name="Text 4"/>
          <p:cNvSpPr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Traditional Attendance Systems: Key Deficiencies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493776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Passive Logging Only: Simply record present/absent data. They cannot evaluate logs for accuracy, integrity, or compliance.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Duplicate Attendance Records: Hard to filter out double submissions caused by network retries or database sync errors.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Proxy Vulnerability: Students easily register attendance for peers using stolen credentials, QR codes, or location spoofing.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Inability to Analyze Patterns: Cannot recognize suspicious log clusters, high-velocity check-ins, or impossible travel times.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Administrative Burden: Faculty spends valuable class time verifying attendance logs, leading to massive manual auditing.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54480"/>
            <a:ext cx="5303520" cy="41148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10" name="Text 8"/>
          <p:cNvSpPr/>
          <p:nvPr/>
        </p:nvSpPr>
        <p:spPr>
          <a:xfrm>
            <a:off x="6355080" y="1554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The Intelligent Solution: Core Features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493776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Active Verification Engine: Logs are fed into an ingestion queue and evaluated immediately for spatial-temporal integrity.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Instant Duplication Filter: A HashMap-based index resolves and detects duplicate submissions in O(1) time.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Proxy Group Identification: Uses graph-based co-attendance networks to flag clusters of students checking in together repeatedly.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Dynamic Fraud Scoring: Computes a fraud percentage for each log based on criteria like IP subnet, device, and timing.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Automated Faculty Dashboards: Automatically visualizes attendance anomalies, outliers, and trends, reducing auditing to zero.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3035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Active Verification &amp; Digitize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49377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Transition from passive recording to active log verification.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Eliminate spreadsheet dependencies by storing log histories in a normalized SQL schema.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035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54480"/>
            <a:ext cx="5303520" cy="41148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10" name="Text 8"/>
          <p:cNvSpPr/>
          <p:nvPr/>
        </p:nvSpPr>
        <p:spPr>
          <a:xfrm>
            <a:off x="6355080" y="1554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Real-time Duplicate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2057400"/>
            <a:ext cx="49377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Detect double-logs and retries using O(1) HashMap index lookups.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Ensure attendance data integrity by immediately discarding redundant transactions.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840480"/>
            <a:ext cx="5303520" cy="41148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14" name="Text 12"/>
          <p:cNvSpPr/>
          <p:nvPr/>
        </p:nvSpPr>
        <p:spPr>
          <a:xfrm>
            <a:off x="685800" y="3840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Behavior &amp; Fraud Scoring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4343400"/>
            <a:ext cx="49377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Analyze temporal patterns (early/late log-ins) to flag proxy risks.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Calculate an active Fraud Score (0-100%) using multi-factor heuristics (IP, time, device).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3035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40480"/>
            <a:ext cx="5303520" cy="41148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18" name="Text 16"/>
          <p:cNvSpPr/>
          <p:nvPr/>
        </p:nvSpPr>
        <p:spPr>
          <a:xfrm>
            <a:off x="6355080" y="3840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Automated Faculty Analytics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4343400"/>
            <a:ext cx="4937760" cy="14630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Produce comprehensive visual reports on student attendance trends.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Minimize administrative audits by sending automatic alerts to faculty when high fraud is flagged.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Technology Stack &amp; Data Structures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530352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303520" cy="4114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85800" y="1554480"/>
            <a:ext cx="5029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Core Stack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493776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Frontend Layer: HTML5, CSS3, JavaScript (Vibrant, interactive dashboard rendering, real-time charts via Chart.js)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Backend Logic: Java (Multi-threaded queue processor, core algorithm logic, and data structure modeling)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Database Layer: MySQL (Relational tables for Student profiles, Faculty listings, and full Attendance history logs)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6217920" y="1554480"/>
          <a:ext cx="5303520" cy="4572001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DSA Concept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Implementation &amp; Purpose in Project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HashMap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Used to index active logs by Student ID. Provides O(1) lookup to check if a student has already checked in, blocking duplicate records.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ArrayList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Stores dynamic collections of student rosters, search query outputs, and alert lists. Useful when the capacity needs to grow dynamically.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Queue (FIFO)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Processes incoming check-in logs in chronological order. Standardizes flow control to prevent database bottlenecks during peak lecture times.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Searching (Binary)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Enables rapid search of specific student profiles in a pre-sorted array list, minimizing lookup times during administrative audits.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Sorting (Merge/Quick)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Ranks student profiles by attendance percentages or fraud scores, highlighting students at risk of proxy attendance.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Graph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Models co-attendance patterns. Nodes represent students and edges represent shared IP subnets/check-in times. Helps find proxy groups.</a:t>
                      </a:r>
                      <a:endParaRPr lang="en-US" sz="9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Expected Outcomes &amp; Dashboard Mockup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384048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3840480" cy="4114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6" name="Text 4"/>
          <p:cNvSpPr/>
          <p:nvPr/>
        </p:nvSpPr>
        <p:spPr>
          <a:xfrm>
            <a:off x="685800" y="1554480"/>
            <a:ext cx="35661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Platform Expected Outcomes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347472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Smart Attendance Dashboard: Central dashboard showing active statistics, alerts, and trend visualizations.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Proactive Fraud Alerts: Flags students with abnormal checking patterns or matching IP logins.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Automated Reports: Faculty can export attendance sheets in CSV/PDF with a single click.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Student Trend Analysis: Track class attendance percentages over time to detect drop-offs early.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69494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B6CB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1463040" cy="457200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0" name="Text 8"/>
          <p:cNvSpPr/>
          <p:nvPr/>
        </p:nvSpPr>
        <p:spPr>
          <a:xfrm>
            <a:off x="4754880" y="173736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PLATFORM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228600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📊 Dashboard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0" y="274320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👥 Students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🛡️ Fraud Engine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0" y="365760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📄 Reports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0" y="4114800"/>
            <a:ext cx="12801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⚙️ Settings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5486400" cy="457200"/>
          </a:xfrm>
          <a:prstGeom prst="rect">
            <a:avLst/>
          </a:prstGeom>
          <a:solidFill>
            <a:srgbClr val="EDF2F7"/>
          </a:solidFill>
        </p:spPr>
      </p:sp>
      <p:sp>
        <p:nvSpPr>
          <p:cNvPr id="17" name="Text 15"/>
          <p:cNvSpPr/>
          <p:nvPr/>
        </p:nvSpPr>
        <p:spPr>
          <a:xfrm>
            <a:off x="6309360" y="1645920"/>
            <a:ext cx="4114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Faculty Attendance Portal  |  Welcome, Guide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219456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2194560"/>
            <a:ext cx="1554480" cy="13716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20" name="Text 18"/>
          <p:cNvSpPr/>
          <p:nvPr/>
        </p:nvSpPr>
        <p:spPr>
          <a:xfrm>
            <a:off x="6355080" y="2377440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Total Enrolled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55080" y="260604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120 Students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219456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2194560"/>
            <a:ext cx="1554480" cy="137160"/>
          </a:xfrm>
          <a:prstGeom prst="rect">
            <a:avLst/>
          </a:prstGeom>
          <a:solidFill>
            <a:srgbClr val="0066CC"/>
          </a:solidFill>
        </p:spPr>
      </p:sp>
      <p:sp>
        <p:nvSpPr>
          <p:cNvPr id="24" name="Text 22"/>
          <p:cNvSpPr/>
          <p:nvPr/>
        </p:nvSpPr>
        <p:spPr>
          <a:xfrm>
            <a:off x="8092440" y="2377440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Avg Attendance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092440" y="260604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88.2 %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784080" y="2194560"/>
            <a:ext cx="155448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84080" y="2194560"/>
            <a:ext cx="1554480" cy="137160"/>
          </a:xfrm>
          <a:prstGeom prst="rect">
            <a:avLst/>
          </a:prstGeom>
          <a:solidFill>
            <a:srgbClr val="D9383A"/>
          </a:solidFill>
        </p:spPr>
      </p:sp>
      <p:sp>
        <p:nvSpPr>
          <p:cNvPr id="28" name="Text 26"/>
          <p:cNvSpPr/>
          <p:nvPr/>
        </p:nvSpPr>
        <p:spPr>
          <a:xfrm>
            <a:off x="9829800" y="2377440"/>
            <a:ext cx="1463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18096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Critical Flags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9829800" y="2606040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383A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 Students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6309360" y="3200400"/>
          <a:ext cx="5029200" cy="128016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Student ID</a:t>
                      </a:r>
                      <a:endParaRPr lang="en-US" sz="7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Fraud Score</a:t>
                      </a:r>
                      <a:endParaRPr lang="en-US" sz="7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Detected Reason</a:t>
                      </a:r>
                      <a:endParaRPr lang="en-US" sz="70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2510030290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85% (High)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Duplicate logs from distinct IPs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2510030415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90% (High)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IP Mismatch - 2 logs in 1 min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2510030110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45% (Medium)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Segoe UI" panose="020B0502040204020203" pitchFamily="34" charset="0"/>
                          <a:ea typeface="Segoe UI" panose="020B0502040204020203" pitchFamily="34" charset="-122"/>
                          <a:cs typeface="Segoe UI" panose="020B0502040204020203" pitchFamily="34" charset="-120"/>
                        </a:rPr>
                        <a:t>High-velocity check-in pattern</a:t>
                      </a:r>
                      <a:endParaRPr lang="en-US" sz="750" dirty="0"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1" name="Chart 0"/>
          <p:cNvGraphicFramePr/>
          <p:nvPr/>
        </p:nvGraphicFramePr>
        <p:xfrm>
          <a:off x="6309360" y="4572000"/>
          <a:ext cx="502920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Architecture &amp; Data Flow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73736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1. Student Check-in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(Credentials, IP, Device)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19202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A25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2. User Auth Module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(Verify User Session)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035040" y="1737360"/>
            <a:ext cx="1920240" cy="914400"/>
          </a:xfrm>
          <a:prstGeom prst="rect">
            <a:avLst/>
          </a:prstGeom>
          <a:solidFill>
            <a:srgbClr val="0066CC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828800"/>
            <a:ext cx="1828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3. Ingestion Queue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(FIFO processing in Java)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463040" y="3291840"/>
            <a:ext cx="2377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7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338328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MySQL Database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(Student/Roster DB)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3200400"/>
            <a:ext cx="4389120" cy="1097280"/>
          </a:xfrm>
          <a:prstGeom prst="rect">
            <a:avLst/>
          </a:prstGeom>
          <a:solidFill>
            <a:srgbClr val="0A2540"/>
          </a:solidFill>
        </p:spPr>
      </p:sp>
      <p:sp>
        <p:nvSpPr>
          <p:cNvPr id="13" name="Text 11"/>
          <p:cNvSpPr/>
          <p:nvPr/>
        </p:nvSpPr>
        <p:spPr>
          <a:xfrm>
            <a:off x="4572000" y="3291840"/>
            <a:ext cx="42062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4. Fraud Detection Engine (Java Core)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Duplicate Check (HashMap)  • Proxy Group (Graph)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Score calculation &amp; Alerts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77440" y="4754880"/>
            <a:ext cx="2377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484632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5. Analytics Dashboard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(Visualize Fraud Scores)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4754880"/>
            <a:ext cx="237744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37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846320"/>
            <a:ext cx="2286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6. Report Generator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(Automated CSV/PDF Export)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0" y="2057400"/>
            <a:ext cx="548640" cy="274320"/>
          </a:xfrm>
          <a:prstGeom prst="rightArrow">
            <a:avLst/>
          </a:prstGeom>
          <a:solidFill>
            <a:srgbClr val="2B6CB0"/>
          </a:solidFill>
        </p:spPr>
      </p:sp>
      <p:sp>
        <p:nvSpPr>
          <p:cNvPr id="19" name="Shape 17"/>
          <p:cNvSpPr/>
          <p:nvPr/>
        </p:nvSpPr>
        <p:spPr>
          <a:xfrm>
            <a:off x="5394960" y="2057400"/>
            <a:ext cx="548640" cy="274320"/>
          </a:xfrm>
          <a:prstGeom prst="rightArrow">
            <a:avLst/>
          </a:prstGeom>
          <a:solidFill>
            <a:srgbClr val="2B6CB0"/>
          </a:solidFill>
        </p:spPr>
      </p:sp>
      <p:sp>
        <p:nvSpPr>
          <p:cNvPr id="20" name="Shape 18"/>
          <p:cNvSpPr/>
          <p:nvPr/>
        </p:nvSpPr>
        <p:spPr>
          <a:xfrm>
            <a:off x="6949440" y="2743200"/>
            <a:ext cx="274320" cy="457200"/>
          </a:xfrm>
          <a:prstGeom prst="downArrow">
            <a:avLst/>
          </a:prstGeom>
          <a:solidFill>
            <a:srgbClr val="0066CC"/>
          </a:solidFill>
        </p:spPr>
      </p:sp>
      <p:sp>
        <p:nvSpPr>
          <p:cNvPr id="21" name="Shape 19"/>
          <p:cNvSpPr/>
          <p:nvPr/>
        </p:nvSpPr>
        <p:spPr>
          <a:xfrm>
            <a:off x="3931920" y="3611880"/>
            <a:ext cx="548640" cy="274320"/>
          </a:xfrm>
          <a:prstGeom prst="rightArrow">
            <a:avLst/>
          </a:prstGeom>
          <a:solidFill>
            <a:srgbClr val="2B6CB0"/>
          </a:solidFill>
        </p:spPr>
      </p:sp>
      <p:sp>
        <p:nvSpPr>
          <p:cNvPr id="22" name="Shape 20"/>
          <p:cNvSpPr/>
          <p:nvPr/>
        </p:nvSpPr>
        <p:spPr>
          <a:xfrm>
            <a:off x="3474720" y="4297680"/>
            <a:ext cx="274320" cy="365760"/>
          </a:xfrm>
          <a:prstGeom prst="downArrow">
            <a:avLst/>
          </a:prstGeom>
          <a:solidFill>
            <a:srgbClr val="2B6CB0"/>
          </a:solidFill>
        </p:spPr>
      </p:sp>
      <p:sp>
        <p:nvSpPr>
          <p:cNvPr id="23" name="Shape 21"/>
          <p:cNvSpPr/>
          <p:nvPr/>
        </p:nvSpPr>
        <p:spPr>
          <a:xfrm>
            <a:off x="6492240" y="4297680"/>
            <a:ext cx="274320" cy="365760"/>
          </a:xfrm>
          <a:prstGeom prst="downArrow">
            <a:avLst/>
          </a:prstGeom>
          <a:solidFill>
            <a:srgbClr val="2B6CB0"/>
          </a:solidFill>
        </p:spPr>
      </p:sp>
      <p:sp>
        <p:nvSpPr>
          <p:cNvPr id="24" name="Shape 22"/>
          <p:cNvSpPr/>
          <p:nvPr/>
        </p:nvSpPr>
        <p:spPr>
          <a:xfrm>
            <a:off x="8595360" y="1554480"/>
            <a:ext cx="3108960" cy="4572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0" y="1554480"/>
            <a:ext cx="3108960" cy="41148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26" name="Text 24"/>
          <p:cNvSpPr/>
          <p:nvPr/>
        </p:nvSpPr>
        <p:spPr>
          <a:xfrm>
            <a:off x="8732520" y="1554480"/>
            <a:ext cx="28346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Data Flow Rationale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0" y="2057400"/>
            <a:ext cx="2743200" cy="3931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1. Attendance logs flow from students into the system and are buffered in the FIFO Ingestion Queue.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2. Logs are verified against student data from MySQL, and evaluated by the Fraud Detection Engine using HashMap duplication analysis.</a:t>
            </a: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endParaRPr lang="en-US" sz="100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• 3. Resulting fraud indexes and analytics graphs populate the faculty dashboard, alerting them to suspicious behavior patterns.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Project Roadmap &amp; Milestones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9144"/>
          </a:xfrm>
          <a:prstGeom prst="line">
            <a:avLst/>
          </a:prstGeom>
          <a:noFill/>
          <a:ln w="25400">
            <a:solidFill>
              <a:srgbClr val="2B6CB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3291840"/>
            <a:ext cx="11064240" cy="0"/>
          </a:xfrm>
          <a:prstGeom prst="line">
            <a:avLst/>
          </a:prstGeom>
          <a:noFill/>
          <a:ln w="50800">
            <a:solidFill>
              <a:srgbClr val="2B6C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3108960"/>
            <a:ext cx="365760" cy="365760"/>
          </a:xfrm>
          <a:prstGeom prst="rect">
            <a:avLst/>
          </a:prstGeom>
          <a:solidFill>
            <a:srgbClr val="0A25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274320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Week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" y="1463040"/>
            <a:ext cx="1737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" y="1463040"/>
            <a:ext cx="1737360" cy="2286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9" name="Text 7"/>
          <p:cNvSpPr/>
          <p:nvPr/>
        </p:nvSpPr>
        <p:spPr>
          <a:xfrm>
            <a:off x="91440" y="146304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Requirement Analysis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7160" y="1737360"/>
            <a:ext cx="15544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Define project objectives, audit parameters, security compliance, and fraud heuristics.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3108960"/>
            <a:ext cx="365760" cy="365760"/>
          </a:xfrm>
          <a:prstGeom prst="rect">
            <a:avLst/>
          </a:prstGeom>
          <a:solidFill>
            <a:srgbClr val="0A254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5661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540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Week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4023360"/>
            <a:ext cx="1737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4023360"/>
            <a:ext cx="1737360" cy="228600"/>
          </a:xfrm>
          <a:prstGeom prst="rect">
            <a:avLst/>
          </a:prstGeom>
          <a:solidFill>
            <a:srgbClr val="2D3748"/>
          </a:solidFill>
        </p:spPr>
      </p:sp>
      <p:sp>
        <p:nvSpPr>
          <p:cNvPr id="15" name="Text 13"/>
          <p:cNvSpPr/>
          <p:nvPr/>
        </p:nvSpPr>
        <p:spPr>
          <a:xfrm>
            <a:off x="1965960" y="40233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System Design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0" y="4297680"/>
            <a:ext cx="15544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Design DB schema in MySQL, design graph relationships, flowcharts, and Java core structures.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80560" y="3108960"/>
            <a:ext cx="365760" cy="365760"/>
          </a:xfrm>
          <a:prstGeom prst="rect">
            <a:avLst/>
          </a:prstGeom>
          <a:solidFill>
            <a:srgbClr val="0066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74320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Week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94760" y="1463040"/>
            <a:ext cx="1737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4760" y="1463040"/>
            <a:ext cx="1737360" cy="228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21" name="Text 19"/>
          <p:cNvSpPr/>
          <p:nvPr/>
        </p:nvSpPr>
        <p:spPr>
          <a:xfrm>
            <a:off x="3840480" y="146304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Attendance Module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86200" y="1737360"/>
            <a:ext cx="15544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Build student recording forms and secure check-in portal interfaces, configure basic DB logs.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55080" y="3108960"/>
            <a:ext cx="365760" cy="365760"/>
          </a:xfrm>
          <a:prstGeom prst="rect">
            <a:avLst/>
          </a:prstGeom>
          <a:solidFill>
            <a:srgbClr val="0066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15000" y="35661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Week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4023360"/>
            <a:ext cx="1737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4023360"/>
            <a:ext cx="1737360" cy="228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27" name="Text 25"/>
          <p:cNvSpPr/>
          <p:nvPr/>
        </p:nvSpPr>
        <p:spPr>
          <a:xfrm>
            <a:off x="5715000" y="40233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Fraud Detection Module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4297680"/>
            <a:ext cx="15544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Develop the Queue processor, O(1) HashMap checks, and Graph network clustering in Java.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229600" y="3108960"/>
            <a:ext cx="365760" cy="365760"/>
          </a:xfrm>
          <a:prstGeom prst="rect">
            <a:avLst/>
          </a:prstGeom>
          <a:solidFill>
            <a:srgbClr val="0066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0" y="274320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Week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1463040"/>
            <a:ext cx="1737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43800" y="1463040"/>
            <a:ext cx="1737360" cy="228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33" name="Text 31"/>
          <p:cNvSpPr/>
          <p:nvPr/>
        </p:nvSpPr>
        <p:spPr>
          <a:xfrm>
            <a:off x="7589520" y="146304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Dashboard &amp; Analytics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635240" y="1737360"/>
            <a:ext cx="15544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Integrate dashboard UI, display real-time analytics graphs, and generate fraud summaries.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10104120" y="3108960"/>
            <a:ext cx="365760" cy="365760"/>
          </a:xfrm>
          <a:prstGeom prst="rect">
            <a:avLst/>
          </a:prstGeom>
          <a:solidFill>
            <a:srgbClr val="0066C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464040" y="35661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6CC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Week 6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418320" y="4023360"/>
            <a:ext cx="17373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18320" y="4023360"/>
            <a:ext cx="1737360" cy="228600"/>
          </a:xfrm>
          <a:prstGeom prst="rect">
            <a:avLst/>
          </a:prstGeom>
          <a:solidFill>
            <a:srgbClr val="2B6CB0"/>
          </a:solidFill>
        </p:spPr>
      </p:sp>
      <p:sp>
        <p:nvSpPr>
          <p:cNvPr id="39" name="Text 37"/>
          <p:cNvSpPr/>
          <p:nvPr/>
        </p:nvSpPr>
        <p:spPr>
          <a:xfrm>
            <a:off x="9464040" y="4023360"/>
            <a:ext cx="164592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Testing &amp; Review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509760" y="4297680"/>
            <a:ext cx="1554480" cy="914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dirty="0">
                <a:solidFill>
                  <a:srgbClr val="2D3748"/>
                </a:solidFill>
                <a:latin typeface="Segoe UI" panose="020B0502040204020203" pitchFamily="34" charset="0"/>
                <a:ea typeface="Segoe UI" panose="020B0502040204020203" pitchFamily="34" charset="-122"/>
                <a:cs typeface="Segoe UI" panose="020B0502040204020203" pitchFamily="34" charset="-120"/>
              </a:rPr>
              <a:t>Mock proxy test deployments, clean up API anomalies, compile project report, and Review-1.</a:t>
            </a:r>
            <a:endParaRPr lang="en-US" sz="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6212</Words>
  <Application>WPS Presentation</Application>
  <PresentationFormat>On-screen Show (16:9)</PresentationFormat>
  <Paragraphs>264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Segoe UI</vt:lpstr>
      <vt:lpstr>Segoe UI</vt:lpstr>
      <vt:lpstr>Segoe UI</vt:lpstr>
      <vt:lpstr>Segoe UI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Sharath rayanolla</cp:lastModifiedBy>
  <cp:revision>2</cp:revision>
  <dcterms:created xsi:type="dcterms:W3CDTF">2026-08-04T12:28:00Z</dcterms:created>
  <dcterms:modified xsi:type="dcterms:W3CDTF">2026-08-04T15:06:22Z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1D86A9AE45B14F8BBE98F18BC6EAB747_12</vt:lpwstr>
  </property>
</Properties>
</file>