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3" name="Shape 1"/>
          <p:cNvSpPr/>
          <p:nvPr/>
        </p:nvSpPr>
        <p:spPr>
          <a:xfrm>
            <a:off x="0" y="91440"/>
            <a:ext cx="12188952" cy="73152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4" name="Text 2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KL UNIVERSITY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0" y="320040"/>
            <a:ext cx="7498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2E8F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Intelligent Attendance Analytics Platform with Fraud Detection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7" name="Text 5"/>
          <p:cNvSpPr/>
          <p:nvPr/>
        </p:nvSpPr>
        <p:spPr>
          <a:xfrm>
            <a:off x="548640" y="6291072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t>DSA Mini Project – Review 2 | Intelligent Attendance Analytics Platform with Fraud Detection | KL University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" name="Shape 1"/>
          <p:cNvSpPr/>
          <p:nvPr/>
        </p:nvSpPr>
        <p:spPr>
          <a:xfrm>
            <a:off x="228600" y="0"/>
            <a:ext cx="137160" cy="6858000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4" name="Shape 2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061626"/>
          </a:solidFill>
        </p:spPr>
      </p:sp>
      <p:sp>
        <p:nvSpPr>
          <p:cNvPr id="5" name="Shap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DEPARTMENT OF COMPUTER SCIENCE &amp; ENGINEERING  •  KL UNIVERSITY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 panose="020B0502040204020203"/>
              </a:defRPr>
            </a:pPr>
            <a:r>
              <a:t>INTELLIGENT ATTENDANCE ANALYTICS</a:t>
            </a:r>
          </a:p>
          <a:p>
            <a:pPr>
              <a:defRPr sz="2800" b="1">
                <a:solidFill>
                  <a:srgbClr val="FFFFFF"/>
                </a:solidFill>
                <a:latin typeface="Segoe UI" panose="020B0502040204020203"/>
              </a:defRPr>
            </a:pPr>
            <a:r>
              <a:t>PLATFORM WITH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383222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B6CB0"/>
                </a:solidFill>
                <a:latin typeface="Segoe UI" panose="020B0502040204020203"/>
              </a:defRPr>
            </a:pPr>
            <a:r>
              <a:rPr lang="en-US"/>
              <a:t>                            </a:t>
            </a:r>
            <a:r>
              <a:t>DSA Mini Project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0"/>
                </a:solidFill>
                <a:latin typeface="Segoe UI" panose="020B0502040204020203"/>
              </a:defRPr>
            </a:pPr>
            <a:r>
              <a:t>A string-, DP- and flow-based student attendance analytics system that assigns a fraud score to detect proxy entries, duplicate records, and suspicious attendance logs in real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97680"/>
            <a:ext cx="3200400" cy="1645920"/>
          </a:xfrm>
          <a:prstGeom prst="rect">
            <a:avLst/>
          </a:prstGeom>
          <a:solidFill>
            <a:srgbClr val="06162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389120"/>
            <a:ext cx="2926080" cy="87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6CB0"/>
                </a:solidFill>
                <a:latin typeface="Segoe UI" panose="020B0502040204020203"/>
              </a:defRPr>
            </a:pPr>
            <a:r>
              <a:t>Project Guide: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 panose="020B0502040204020203"/>
              </a:defRPr>
            </a:pPr>
            <a:r>
              <a:rPr lang="en-US"/>
              <a:t>Dr</a:t>
            </a:r>
            <a:r>
              <a:t>. Anitha Patil Madam</a:t>
            </a:r>
          </a:p>
          <a:p>
            <a:pPr>
              <a:spcBef>
                <a:spcPts val="400"/>
              </a:spcBef>
              <a:defRPr sz="1000">
                <a:solidFill>
                  <a:srgbClr val="CBD5E0"/>
                </a:solidFill>
                <a:latin typeface="Segoe UI" panose="020B0502040204020203"/>
              </a:defRPr>
            </a:pPr>
            <a:r>
              <a:t>Department of Computer Science &amp; Engineering</a:t>
            </a:r>
            <a:br/>
            <a:r>
              <a:t>KL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463040"/>
            <a:ext cx="3657600" cy="4480560"/>
          </a:xfrm>
          <a:prstGeom prst="rect">
            <a:avLst/>
          </a:prstGeom>
          <a:solidFill>
            <a:srgbClr val="0A2540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291840" cy="2050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 panose="020B0502040204020203"/>
              </a:defRPr>
            </a:pPr>
            <a:r>
              <a:t>Presented By:</a:t>
            </a:r>
          </a:p>
          <a:p>
            <a:pPr>
              <a:spcBef>
                <a:spcPts val="800"/>
              </a:spcBef>
              <a:defRPr sz="1150" b="1">
                <a:solidFill>
                  <a:srgbClr val="FFFFFF"/>
                </a:solidFill>
                <a:latin typeface="Segoe UI" panose="020B0502040204020203"/>
              </a:defRPr>
            </a:pPr>
            <a:r>
              <a:t>•  25100302</a:t>
            </a:r>
            <a:r>
              <a:rPr lang="en-US"/>
              <a:t>90 - Hanish</a:t>
            </a:r>
          </a:p>
          <a:p>
            <a:pPr>
              <a:spcBef>
                <a:spcPts val="800"/>
              </a:spcBef>
              <a:defRPr sz="1150" b="0">
                <a:solidFill>
                  <a:srgbClr val="CBD5E0"/>
                </a:solidFill>
                <a:latin typeface="Segoe UI" panose="020B0502040204020203"/>
              </a:defRPr>
            </a:pPr>
            <a:r>
              <a:t>•  25100302</a:t>
            </a:r>
            <a:r>
              <a:rPr lang="en-US"/>
              <a:t>89</a:t>
            </a:r>
            <a:r>
              <a:t> - </a:t>
            </a:r>
            <a:r>
              <a:rPr lang="en-US"/>
              <a:t>Sharath</a:t>
            </a:r>
            <a:r>
              <a:t> </a:t>
            </a:r>
          </a:p>
          <a:p>
            <a:pPr>
              <a:spcBef>
                <a:spcPts val="800"/>
              </a:spcBef>
              <a:defRPr sz="1150" b="0">
                <a:solidFill>
                  <a:srgbClr val="CBD5E0"/>
                </a:solidFill>
                <a:latin typeface="Segoe UI" panose="020B0502040204020203"/>
              </a:defRPr>
            </a:pPr>
            <a:r>
              <a:t>•  2510030415 - Anish </a:t>
            </a:r>
          </a:p>
          <a:p>
            <a:pPr>
              <a:spcBef>
                <a:spcPts val="800"/>
              </a:spcBef>
              <a:defRPr sz="1150" b="0">
                <a:solidFill>
                  <a:srgbClr val="CBD5E0"/>
                </a:solidFill>
                <a:latin typeface="Segoe UI" panose="020B0502040204020203"/>
              </a:defRPr>
            </a:pPr>
            <a:r>
              <a:t>•  2510030110 - Rishi Teja </a:t>
            </a:r>
          </a:p>
          <a:p>
            <a:pPr>
              <a:spcBef>
                <a:spcPts val="1400"/>
              </a:spcBef>
              <a:defRPr sz="1000">
                <a:solidFill>
                  <a:srgbClr val="2B6CB0"/>
                </a:solidFill>
                <a:latin typeface="Segoe UI" panose="020B0502040204020203"/>
              </a:defRPr>
            </a:pPr>
            <a:br/>
            <a:r>
              <a:t>Department of Computer Science &amp; Engineering</a:t>
            </a:r>
            <a:br/>
            <a:r>
              <a:t>KL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00800"/>
            <a:ext cx="1280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18096"/>
                </a:solidFill>
                <a:latin typeface="Segoe UI" panose="020B0502040204020203"/>
              </a:defRPr>
            </a:pPr>
            <a: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2540"/>
                </a:solidFill>
                <a:latin typeface="Segoe UI" panose="020B0502040204020203"/>
              </a:defRPr>
            </a:pPr>
            <a:r>
              <a:t>Problem and Project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53312"/>
            <a:ext cx="11064240" cy="1371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280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18096"/>
                </a:solidFill>
                <a:latin typeface="Segoe UI" panose="020B0502040204020203"/>
              </a:defRPr>
            </a:pPr>
            <a:r>
              <a:t>2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3949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394960" cy="38404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Current Attendance Problems in Colleges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30552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00" b="1">
                <a:solidFill>
                  <a:srgbClr val="0A2540"/>
                </a:solidFill>
                <a:latin typeface="Segoe UI" panose="020B0502040204020203"/>
              </a:rPr>
              <a:t>•  Passive attendance recording: </a:t>
            </a:r>
            <a:r>
              <a:rPr sz="1100">
                <a:solidFill>
                  <a:srgbClr val="2D3748"/>
                </a:solidFill>
                <a:latin typeface="Segoe UI" panose="020B0502040204020203"/>
              </a:rPr>
              <a:t>Traditional attendance systems mainly record present/absent data without verifying who is submitting.</a:t>
            </a:r>
            <a:endParaRPr sz="1100">
              <a:solidFill>
                <a:srgbClr val="2D3748"/>
              </a:solidFill>
              <a:latin typeface="Segoe UI" panose="020B0502040204020203"/>
            </a:endParaRP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A2540"/>
                </a:solidFill>
                <a:latin typeface="Segoe UI" panose="020B0502040204020203"/>
              </a:rPr>
              <a:t>•  Duplicate submissions: </a:t>
            </a:r>
            <a:r>
              <a:rPr sz="1100">
                <a:solidFill>
                  <a:srgbClr val="2D3748"/>
                </a:solidFill>
                <a:latin typeface="Segoe UI" panose="020B0502040204020203"/>
              </a:rPr>
              <a:t>Duplicate attendance can happen because of repeated clicks, network retries, or multiple submissions.</a:t>
            </a:r>
            <a:endParaRPr sz="1100">
              <a:solidFill>
                <a:srgbClr val="2D3748"/>
              </a:solidFill>
              <a:latin typeface="Segoe UI" panose="020B0502040204020203"/>
            </a:endParaRP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A2540"/>
                </a:solidFill>
                <a:latin typeface="Segoe UI" panose="020B0502040204020203"/>
              </a:rPr>
              <a:t>•  Proxy attendance issues: </a:t>
            </a:r>
            <a:r>
              <a:rPr sz="1100">
                <a:solidFill>
                  <a:srgbClr val="2D3748"/>
                </a:solidFill>
                <a:latin typeface="Segoe UI" panose="020B0502040204020203"/>
              </a:rPr>
              <a:t>Proxy attendance is difficult to identify because students easily submit check-ins for absent friends.</a:t>
            </a:r>
            <a:endParaRPr sz="1100">
              <a:solidFill>
                <a:srgbClr val="2D3748"/>
              </a:solidFill>
              <a:latin typeface="Segoe UI" panose="020B0502040204020203"/>
            </a:endParaRP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A2540"/>
                </a:solidFill>
                <a:latin typeface="Segoe UI" panose="020B0502040204020203"/>
              </a:rPr>
              <a:t>•  Manual verification burden: </a:t>
            </a:r>
            <a:r>
              <a:rPr sz="1100">
                <a:solidFill>
                  <a:srgbClr val="2D3748"/>
                </a:solidFill>
                <a:latin typeface="Segoe UI" panose="020B0502040204020203"/>
              </a:rPr>
              <a:t>Suspicious attendance patterns are usually checked manually by faculty after class hours.</a:t>
            </a:r>
            <a:endParaRPr sz="1100">
              <a:solidFill>
                <a:srgbClr val="2D3748"/>
              </a:solidFill>
              <a:latin typeface="Segoe UI" panose="020B0502040204020203"/>
            </a:endParaRP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A2540"/>
                </a:solidFill>
                <a:latin typeface="Segoe UI" panose="020B0502040204020203"/>
              </a:rPr>
              <a:t>•  Lack of faculty alerts: </a:t>
            </a:r>
            <a:r>
              <a:rPr sz="1100">
                <a:solidFill>
                  <a:srgbClr val="2D3748"/>
                </a:solidFill>
                <a:latin typeface="Segoe UI" panose="020B0502040204020203"/>
              </a:rPr>
              <a:t>Faculty need an easier way to find abnormal attendance records and suspicious check-in patterns quickly.</a:t>
            </a:r>
            <a:endParaRPr sz="1100">
              <a:solidFill>
                <a:srgbClr val="2D3748"/>
              </a:solidFill>
              <a:latin typeface="Segoe UI" panose="020B05020402040202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17920" y="1600200"/>
            <a:ext cx="53949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00200"/>
            <a:ext cx="539496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Our Project Idea (Intelligent Platform)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30552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00" b="1">
                <a:solidFill>
                  <a:srgbClr val="0066CC"/>
                </a:solidFill>
                <a:latin typeface="Segoe UI" panose="020B0502040204020203"/>
              </a:rPr>
              <a:t>•  Record attendance: </a:t>
            </a:r>
            <a:r>
              <a:rPr sz="1100">
                <a:solidFill>
                  <a:srgbClr val="2D3748"/>
                </a:solidFill>
                <a:latin typeface="Segoe UI" panose="020B0502040204020203"/>
              </a:rPr>
              <a:t>Log student check-ins in real time with timestamp, IP address, and student ID.</a:t>
            </a:r>
            <a:endParaRPr sz="1100">
              <a:solidFill>
                <a:srgbClr val="2D3748"/>
              </a:solidFill>
              <a:latin typeface="Segoe UI" panose="020B0502040204020203"/>
            </a:endParaRP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66CC"/>
                </a:solidFill>
                <a:latin typeface="Segoe UI" panose="020B0502040204020203"/>
              </a:rPr>
              <a:t>•  Check duplicate entries: </a:t>
            </a:r>
            <a:r>
              <a:rPr sz="1100">
                <a:solidFill>
                  <a:srgbClr val="2D3748"/>
                </a:solidFill>
                <a:latin typeface="Segoe UI" panose="020B0502040204020203"/>
              </a:rPr>
              <a:t>Fingerprint each incoming log with a rolling hash to filter out repeated submissions immediately.</a:t>
            </a:r>
            <a:endParaRPr sz="1100">
              <a:solidFill>
                <a:srgbClr val="2D3748"/>
              </a:solidFill>
              <a:latin typeface="Segoe UI" panose="020B0502040204020203"/>
            </a:endParaRP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66CC"/>
                </a:solidFill>
                <a:latin typeface="Segoe UI" panose="020B0502040204020203"/>
              </a:rPr>
              <a:t>•  Analyze suspicious patterns: </a:t>
            </a:r>
            <a:r>
              <a:rPr sz="1100">
                <a:solidFill>
                  <a:srgbClr val="2D3748"/>
                </a:solidFill>
                <a:latin typeface="Segoe UI" panose="020B0502040204020203"/>
              </a:rPr>
              <a:t>Match log patterns and cut a similarity graph to find students checking in at the same second from identical IPs.</a:t>
            </a:r>
            <a:endParaRPr sz="1100">
              <a:solidFill>
                <a:srgbClr val="2D3748"/>
              </a:solidFill>
              <a:latin typeface="Segoe UI" panose="020B0502040204020203"/>
            </a:endParaRP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66CC"/>
                </a:solidFill>
                <a:latin typeface="Segoe UI" panose="020B0502040204020203"/>
              </a:rPr>
              <a:t>•  Calculate a fraud score: </a:t>
            </a:r>
            <a:r>
              <a:rPr sz="1100">
                <a:solidFill>
                  <a:srgbClr val="2D3748"/>
                </a:solidFill>
                <a:latin typeface="Segoe UI" panose="020B0502040204020203"/>
              </a:rPr>
              <a:t>Assign a practical fraud score to each log to highlight suspicious attendance.</a:t>
            </a:r>
            <a:endParaRPr sz="1100">
              <a:solidFill>
                <a:srgbClr val="2D3748"/>
              </a:solidFill>
              <a:latin typeface="Segoe UI" panose="020B0502040204020203"/>
            </a:endParaRP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66CC"/>
                </a:solidFill>
                <a:latin typeface="Segoe UI" panose="020B0502040204020203"/>
              </a:rPr>
              <a:t>•  Show alerts and analytics: </a:t>
            </a:r>
            <a:r>
              <a:rPr sz="1100">
                <a:solidFill>
                  <a:srgbClr val="2D3748"/>
                </a:solidFill>
                <a:latin typeface="Segoe UI" panose="020B0502040204020203"/>
              </a:rPr>
              <a:t>Show clear visual alerts and attendance trends directly on a faculty dashboard.</a:t>
            </a:r>
            <a:endParaRPr sz="1100">
              <a:solidFill>
                <a:srgbClr val="2D3748"/>
              </a:solidFill>
              <a:latin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5760720"/>
            <a:ext cx="11064240" cy="384048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 panose="020B0502040204020203"/>
              </a:defRPr>
            </a:pPr>
            <a:r>
              <a:t>Project Goal: Use advanced algorithms (string matching, DP, network flow, approximation) to automate duplicate blocking and proxy detection for faculty.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2540"/>
                </a:solidFill>
                <a:latin typeface="Segoe UI" panose="020B0502040204020203"/>
              </a:defRPr>
            </a:pPr>
            <a:r>
              <a:t>Advanced Algorithms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53312"/>
            <a:ext cx="11064240" cy="1371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280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18096"/>
                </a:solidFill>
                <a:latin typeface="Segoe UI" panose="020B0502040204020203"/>
              </a:defRPr>
            </a:pPr>
            <a:r>
              <a:t>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748"/>
                </a:solidFill>
                <a:latin typeface="Segoe UI" panose="020B0502040204020203"/>
              </a:defRPr>
            </a:pPr>
            <a:r>
              <a:t>The engine replaces library collections with hand-built advanced algorithms (no java.util.*) to stay fast and scalable: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74519"/>
          <a:ext cx="11064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852160"/>
                <a:gridCol w="3108960"/>
              </a:tblGrid>
              <a:tr h="56170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Advanced Algorithm</a:t>
                      </a:r>
                    </a:p>
                  </a:txBody>
                  <a:tcPr marL="137160" marR="13716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Purpose in the Project</a:t>
                      </a:r>
                    </a:p>
                  </a:txBody>
                  <a:tcPr marL="137160" marR="13716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Complexity / Benefit</a:t>
                      </a:r>
                    </a:p>
                  </a:txBody>
                  <a:tcPr marL="137160" marR="137160">
                    <a:solidFill>
                      <a:srgbClr val="0A2540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A2540"/>
                          </a:solidFill>
                          <a:latin typeface="Segoe UI" panose="020B0502040204020203"/>
                        </a:defRPr>
                      </a:pPr>
                      <a:r>
                        <a:t>Rabin-Karp + Miller-Rabin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Duplicate checking: a double rolling hash fingerprints each log; Miller-Rabin picks the large prime modulus.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O(1) expected per log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A2540"/>
                          </a:solidFill>
                          <a:latin typeface="Segoe UI" panose="020B0502040204020203"/>
                        </a:defRPr>
                      </a:pPr>
                      <a:r>
                        <a:t>KMP / Aho-Corasick</a:t>
                      </a:r>
                    </a:p>
                  </a:txBody>
                  <a:tcPr marL="137160" marR="13716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Finds blacklisted proxy IPs and device signatures in log text in a single linear pass.</a:t>
                      </a:r>
                    </a:p>
                  </a:txBody>
                  <a:tcPr marL="137160" marR="13716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O(n + m + z) multi-pattern</a:t>
                      </a:r>
                    </a:p>
                  </a:txBody>
                  <a:tcPr marL="137160" marR="137160">
                    <a:solidFill>
                      <a:srgbClr val="F7FAFC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A2540"/>
                          </a:solidFill>
                          <a:latin typeface="Segoe UI" panose="020B0502040204020203"/>
                        </a:defRPr>
                      </a:pPr>
                      <a:r>
                        <a:t>Suffix Array + LCP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Sorts IP strings; LCP of neighbours reveals shared subnets and similar device strings.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O(n log² n) build, O(n) LCP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A2540"/>
                          </a:solidFill>
                          <a:latin typeface="Segoe UI" panose="020B0502040204020203"/>
                        </a:defRPr>
                      </a:pPr>
                      <a:r>
                        <a:t>Edit Distance (DP)</a:t>
                      </a:r>
                    </a:p>
                  </a:txBody>
                  <a:tcPr marL="137160" marR="13716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Wagner-Fischer flags near-duplicate IDs and spoofed devices; alignment compares attendance timelines.</a:t>
                      </a:r>
                    </a:p>
                  </a:txBody>
                  <a:tcPr marL="137160" marR="13716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O(nm) per string pair</a:t>
                      </a:r>
                    </a:p>
                  </a:txBody>
                  <a:tcPr marL="137160" marR="137160">
                    <a:solidFill>
                      <a:srgbClr val="F7FAFC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A2540"/>
                          </a:solidFill>
                          <a:latin typeface="Segoe UI" panose="020B0502040204020203"/>
                        </a:defRPr>
                      </a:pPr>
                      <a:r>
                        <a:t>Dinic Max-Flow / Min-Cut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Min-cut splits proxy clusters in the similarity graph; flow assigns flagged logs to faculty reviewers.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O(V²E); isolates proxy groups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A2540"/>
                          </a:solidFill>
                          <a:latin typeface="Segoe UI" panose="020B0502040204020203"/>
                        </a:defRPr>
                      </a:pPr>
                      <a:r>
                        <a:t>Vertex-Cover Approximation</a:t>
                      </a:r>
                    </a:p>
                  </a:txBody>
                  <a:tcPr marL="137160" marR="13716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Fewest records to audit that cover all suspicious pairs is NP-hard; maximal matching gives a 2-approximation.</a:t>
                      </a:r>
                    </a:p>
                  </a:txBody>
                  <a:tcPr marL="137160" marR="13716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Ratio ≤ 2, O(V + E)</a:t>
                      </a:r>
                    </a:p>
                  </a:txBody>
                  <a:tcPr marL="137160" marR="137160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2540"/>
                </a:solidFill>
                <a:latin typeface="Segoe UI" panose="020B0502040204020203"/>
              </a:defRPr>
            </a:pPr>
            <a:r>
              <a:t>Key Advantage: Rabin-Karp gives O(1) expected duplicate checks, while min-cut on the similarity graph isolates proxy groups naturally.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2540"/>
                </a:solidFill>
                <a:latin typeface="Segoe UI" panose="020B0502040204020203"/>
              </a:defRPr>
            </a:pPr>
            <a:r>
              <a:t>System Architecture and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53312"/>
            <a:ext cx="11064240" cy="1371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280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18096"/>
                </a:solidFill>
                <a:latin typeface="Segoe UI" panose="020B0502040204020203"/>
              </a:defRPr>
            </a:pPr>
            <a:r>
              <a:t>4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353312" cy="10058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 panose="020B0502040204020203"/>
              </a:defRPr>
            </a:pPr>
            <a:r>
              <a:t>1. Check-in</a:t>
            </a:r>
          </a:p>
          <a:p>
            <a:pPr algn="ctr">
              <a:spcBef>
                <a:spcPts val="300"/>
              </a:spcBef>
              <a:defRPr sz="850">
                <a:solidFill>
                  <a:srgbClr val="718096"/>
                </a:solidFill>
                <a:latin typeface="Segoe UI" panose="020B0502040204020203"/>
              </a:defRPr>
            </a:pPr>
            <a:r>
              <a:t>Student ID, IP,</a:t>
            </a:r>
            <a:br/>
            <a:r>
              <a:t>Device, Time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38528" y="2057400"/>
            <a:ext cx="182880" cy="22860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57984" y="1691640"/>
            <a:ext cx="1353312" cy="10058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 panose="020B0502040204020203"/>
              </a:defRPr>
            </a:pPr>
            <a:r>
              <a:t>2. User Auth</a:t>
            </a:r>
          </a:p>
          <a:p>
            <a:pPr algn="ctr">
              <a:spcBef>
                <a:spcPts val="300"/>
              </a:spcBef>
              <a:defRPr sz="850">
                <a:solidFill>
                  <a:srgbClr val="718096"/>
                </a:solidFill>
                <a:latin typeface="Segoe UI" panose="020B0502040204020203"/>
              </a:defRPr>
            </a:pPr>
            <a:r>
              <a:t>Session check</a:t>
            </a:r>
            <a:br/>
            <a:r>
              <a:t>&amp; credentials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547872" y="2057400"/>
            <a:ext cx="182880" cy="22860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67328" y="1691640"/>
            <a:ext cx="1353312" cy="10058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 panose="020B0502040204020203"/>
              </a:defRPr>
            </a:pPr>
            <a:r>
              <a:t>3. Ingestion Queue</a:t>
            </a:r>
          </a:p>
          <a:p>
            <a:pPr algn="ctr">
              <a:spcBef>
                <a:spcPts val="300"/>
              </a:spcBef>
              <a:defRPr sz="850">
                <a:solidFill>
                  <a:srgbClr val="718096"/>
                </a:solidFill>
                <a:latin typeface="Segoe UI" panose="020B0502040204020203"/>
              </a:defRPr>
            </a:pPr>
            <a:r>
              <a:t>FIFO buffering</a:t>
            </a:r>
            <a:br/>
            <a:r>
              <a:t>(custom array)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157216" y="2057400"/>
            <a:ext cx="182880" cy="22860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76672" y="1691640"/>
            <a:ext cx="1353312" cy="10058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 panose="020B0502040204020203"/>
              </a:defRPr>
            </a:pPr>
            <a:r>
              <a:t>4. MySQL DB</a:t>
            </a:r>
          </a:p>
          <a:p>
            <a:pPr algn="ctr">
              <a:spcBef>
                <a:spcPts val="300"/>
              </a:spcBef>
              <a:defRPr sz="850">
                <a:solidFill>
                  <a:srgbClr val="718096"/>
                </a:solidFill>
                <a:latin typeface="Segoe UI" panose="020B0502040204020203"/>
              </a:defRPr>
            </a:pPr>
            <a:r>
              <a:t>Stores student</a:t>
            </a:r>
            <a:br/>
            <a:r>
              <a:t>roster &amp; logs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766560" y="2057400"/>
            <a:ext cx="182880" cy="22860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86016" y="1691640"/>
            <a:ext cx="1353312" cy="1005840"/>
          </a:xfrm>
          <a:prstGeom prst="roundRect">
            <a:avLst/>
          </a:prstGeom>
          <a:solidFill>
            <a:srgbClr val="0A2540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 panose="020B0502040204020203"/>
              </a:defRPr>
            </a:pPr>
            <a:r>
              <a:t>5. Fraud Engine</a:t>
            </a:r>
          </a:p>
          <a:p>
            <a:pPr algn="ctr">
              <a:spcBef>
                <a:spcPts val="300"/>
              </a:spcBef>
              <a:defRPr sz="850">
                <a:solidFill>
                  <a:srgbClr val="CBD5E0"/>
                </a:solidFill>
                <a:latin typeface="Segoe UI" panose="020B0502040204020203"/>
              </a:defRPr>
            </a:pPr>
            <a:r>
              <a:t>String, DP &amp;</a:t>
            </a:r>
            <a:br/>
            <a:r>
              <a:t>Flow checks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375904" y="2057400"/>
            <a:ext cx="182880" cy="22860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60" y="1691640"/>
            <a:ext cx="1353312" cy="10058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 panose="020B0502040204020203"/>
              </a:defRPr>
            </a:pPr>
            <a:r>
              <a:t>6. Dashboard</a:t>
            </a:r>
          </a:p>
          <a:p>
            <a:pPr algn="ctr">
              <a:spcBef>
                <a:spcPts val="300"/>
              </a:spcBef>
              <a:defRPr sz="850">
                <a:solidFill>
                  <a:srgbClr val="718096"/>
                </a:solidFill>
                <a:latin typeface="Segoe UI" panose="020B0502040204020203"/>
              </a:defRPr>
            </a:pPr>
            <a:r>
              <a:t>Charts, counts</a:t>
            </a:r>
            <a:br/>
            <a:r>
              <a:t>&amp; trend view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985248" y="2057400"/>
            <a:ext cx="182880" cy="22860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204704" y="1691640"/>
            <a:ext cx="1353312" cy="10058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0" rIns="45720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 panose="020B0502040204020203"/>
              </a:defRPr>
            </a:pPr>
            <a:r>
              <a:t>7. Reports</a:t>
            </a:r>
          </a:p>
          <a:p>
            <a:pPr algn="ctr">
              <a:spcBef>
                <a:spcPts val="300"/>
              </a:spcBef>
              <a:defRPr sz="850">
                <a:solidFill>
                  <a:srgbClr val="718096"/>
                </a:solidFill>
                <a:latin typeface="Segoe UI" panose="020B0502040204020203"/>
              </a:defRPr>
            </a:pPr>
            <a:r>
              <a:t>Faculty alerts</a:t>
            </a:r>
            <a:br/>
            <a:r>
              <a:t>&amp; CSV export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71800"/>
            <a:ext cx="11064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971800"/>
            <a:ext cx="1106424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Inside Step 5: The Fraud Detection Engine (Java Core, no java.util)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502152"/>
            <a:ext cx="338328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547872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Segoe UI" panose="020B0502040204020203"/>
              </a:defRPr>
            </a:pPr>
            <a:r>
              <a:t>•  Rabin-Karp Duplicate Check</a:t>
            </a:r>
          </a:p>
          <a:p>
            <a:pPr>
              <a:spcBef>
                <a:spcPts val="400"/>
              </a:spcBef>
              <a:defRPr sz="950">
                <a:solidFill>
                  <a:srgbClr val="2D3748"/>
                </a:solidFill>
                <a:latin typeface="Segoe UI" panose="020B0502040204020203"/>
              </a:defRPr>
            </a:pPr>
            <a:r>
              <a:t>Hashes ID, session and device with a double rolling hash (prime modulus from Miller-Rabin). Repeat submissions are caught in O(1) expected time and blocked.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502152"/>
            <a:ext cx="338328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547872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Segoe UI" panose="020B0502040204020203"/>
              </a:defRPr>
            </a:pPr>
            <a:r>
              <a:t>•  String &amp; Edit-Distance Matching</a:t>
            </a:r>
          </a:p>
          <a:p>
            <a:pPr>
              <a:spcBef>
                <a:spcPts val="400"/>
              </a:spcBef>
              <a:defRPr sz="950">
                <a:solidFill>
                  <a:srgbClr val="2D3748"/>
                </a:solidFill>
                <a:latin typeface="Segoe UI" panose="020B0502040204020203"/>
              </a:defRPr>
            </a:pPr>
            <a:r>
              <a:t>Aho-Corasick scans logs for known proxy IP/device patterns in one pass; edit distance flags near-duplicate IDs and spoofed device strings.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502152"/>
            <a:ext cx="338328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547872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Segoe UI" panose="020B0502040204020203"/>
              </a:defRPr>
            </a:pPr>
            <a:r>
              <a:t>•  Flow-based Proxy Groups</a:t>
            </a:r>
          </a:p>
          <a:p>
            <a:pPr>
              <a:spcBef>
                <a:spcPts val="400"/>
              </a:spcBef>
              <a:defRPr sz="950">
                <a:solidFill>
                  <a:srgbClr val="2D3748"/>
                </a:solidFill>
                <a:latin typeface="Segoe UI" panose="020B0502040204020203"/>
              </a:defRPr>
            </a:pPr>
            <a:r>
              <a:t>Min-cut on the IP/time similarity graph isolates proxy clusters; a vertex-cover 2-approximation picks audits and feeds the 0–100% fraud score.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2540"/>
                </a:solidFill>
                <a:latin typeface="Segoe UI" panose="020B0502040204020203"/>
              </a:defRPr>
            </a:pPr>
            <a:r>
              <a:t>Data Flow Summary: Logs arrive sequentially into the Queue -&gt; get verified in MySQL -&gt; undergo hashing, string, DP &amp; flow analysis in Java -&gt; results populate the faculty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11064240" cy="499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2540"/>
                </a:solidFill>
                <a:latin typeface="Segoe UI" panose="020B0502040204020203"/>
              </a:defRPr>
            </a:pPr>
            <a:r>
              <a:t>Novelty of Our Methodology</a:t>
            </a:r>
          </a:p>
          <a:p>
            <a:pPr>
              <a:spcBef>
                <a:spcPts val="300"/>
              </a:spcBef>
              <a:defRPr sz="1000" b="1">
                <a:solidFill>
                  <a:srgbClr val="2B6CB0"/>
                </a:solidFill>
                <a:latin typeface="Segoe UI" panose="020B0502040204020203"/>
              </a:defRPr>
            </a:pPr>
            <a:r>
              <a:t> Evaluation Criteria: Novelty of Developed Methodology – 10 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44752"/>
            <a:ext cx="11064240" cy="1371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280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18096"/>
                </a:solidFill>
                <a:latin typeface="Segoe UI" panose="020B0502040204020203"/>
              </a:defRPr>
            </a:pPr>
            <a:r>
              <a:t>5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4747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4747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1. Attendance + Fraud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57984"/>
            <a:ext cx="325526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3748"/>
                </a:solidFill>
                <a:latin typeface="Segoe UI" panose="020B0502040204020203"/>
              </a:defRPr>
            </a:pPr>
            <a:r>
              <a:t>The system checks attendance records instead of only storing them. It actively looks for proxy entries rather than passively saving present/absent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45920"/>
            <a:ext cx="34747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747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2. Rabin-Karp Duplicate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2157984"/>
            <a:ext cx="325526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3748"/>
                </a:solidFill>
                <a:latin typeface="Segoe UI" panose="020B0502040204020203"/>
              </a:defRPr>
            </a:pPr>
            <a:r>
              <a:t>Each log is fingerprinted with a double rolling hash, so duplicate submissions are caught in O(1) expected time. Second submissions in a session are blocked instantly.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645920"/>
            <a:ext cx="34747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645920"/>
            <a:ext cx="34747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3. Flow-based Proxy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157984"/>
            <a:ext cx="325526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3748"/>
                </a:solidFill>
                <a:latin typeface="Segoe UI" panose="020B0502040204020203"/>
              </a:defRPr>
            </a:pPr>
            <a:r>
              <a:t>Students form a similarity graph on shared IP and timestamp proximity. Min-cut separates proxy clusters from genuine check-ins.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03320"/>
            <a:ext cx="34747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34747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4. Fraud Score Calculation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215384"/>
            <a:ext cx="325526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3748"/>
                </a:solidFill>
                <a:latin typeface="Segoe UI" panose="020B0502040204020203"/>
              </a:defRPr>
            </a:pPr>
            <a:r>
              <a:t>Each attendance log receives a clear fraud score (0–100%) based on IP address, device type, and submission timing to indicate suspicion level.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3703320"/>
            <a:ext cx="34747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703320"/>
            <a:ext cx="34747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5. Edit-Distance &amp; Pattern Matching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4215384"/>
            <a:ext cx="325526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3748"/>
                </a:solidFill>
                <a:latin typeface="Segoe UI" panose="020B0502040204020203"/>
              </a:defRPr>
            </a:pPr>
            <a:r>
              <a:t>Aho-Corasick finds blacklisted IP and device patterns in one pass, while edit distance catches near-identical IDs and spoofed device strings.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703320"/>
            <a:ext cx="34747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3703320"/>
            <a:ext cx="34747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6. Faculty Analytics &amp;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4215384"/>
            <a:ext cx="325526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3748"/>
                </a:solidFill>
                <a:latin typeface="Segoe UI" panose="020B0502040204020203"/>
              </a:defRPr>
            </a:pPr>
            <a:r>
              <a:t>Suspicious records and attendance trends are shown through a clear dashboard, allowing faculty to review irregularities with zero manual auditing.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15000"/>
            <a:ext cx="11064240" cy="384048"/>
          </a:xfrm>
          <a:prstGeom prst="rect">
            <a:avLst/>
          </a:prstGeom>
          <a:solidFill>
            <a:srgbClr val="E6FFFA"/>
          </a:solidFill>
          <a:ln w="12700">
            <a:solidFill>
              <a:srgbClr val="23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4E52"/>
                </a:solidFill>
                <a:latin typeface="Segoe UI" panose="020B0502040204020203"/>
              </a:defRPr>
            </a:pPr>
            <a:r>
              <a:t>Our project combines these advanced algorithms for attendance fraud detection.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11064240" cy="499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2540"/>
                </a:solidFill>
                <a:latin typeface="Segoe UI" panose="020B0502040204020203"/>
              </a:defRPr>
            </a:pPr>
            <a:r>
              <a:t>From Normal Attendance to Intelligent Attendance</a:t>
            </a:r>
          </a:p>
          <a:p>
            <a:pPr>
              <a:spcBef>
                <a:spcPts val="300"/>
              </a:spcBef>
              <a:defRPr sz="1000" b="1">
                <a:solidFill>
                  <a:srgbClr val="2B6CB0"/>
                </a:solidFill>
                <a:latin typeface="Segoe UI" panose="020B0502040204020203"/>
              </a:defRPr>
            </a:pPr>
            <a:r>
              <a:t>Evaluation Criteria: Novelty of Developed Methodology – 10 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44752"/>
            <a:ext cx="11064240" cy="1371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280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18096"/>
                </a:solidFill>
                <a:latin typeface="Segoe UI" panose="020B0502040204020203"/>
              </a:defRPr>
            </a:pPr>
            <a:r>
              <a:t>6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03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03520" cy="38404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Traditional System (Passive Storage)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21992"/>
            <a:ext cx="4572000" cy="54864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3748"/>
                </a:solidFill>
                <a:latin typeface="Segoe UI" panose="020B0502040204020203"/>
              </a:defRPr>
            </a:pPr>
            <a:r>
              <a:t>1. Student Attendance</a:t>
            </a:r>
          </a:p>
          <a:p>
            <a:pPr>
              <a:defRPr sz="850">
                <a:solidFill>
                  <a:srgbClr val="718096"/>
                </a:solidFill>
                <a:latin typeface="Segoe UI" panose="020B0502040204020203"/>
              </a:defRPr>
            </a:pPr>
            <a:r>
              <a:t>Student marks presence via sheet or simple online form</a:t>
            </a:r>
          </a:p>
        </p:txBody>
      </p:sp>
      <p:sp>
        <p:nvSpPr>
          <p:cNvPr id="8" name="Down Arrow 7"/>
          <p:cNvSpPr/>
          <p:nvPr/>
        </p:nvSpPr>
        <p:spPr>
          <a:xfrm>
            <a:off x="3063240" y="2788920"/>
            <a:ext cx="274320" cy="182880"/>
          </a:xfrm>
          <a:prstGeom prst="downArrow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026664"/>
            <a:ext cx="4572000" cy="54864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3748"/>
                </a:solidFill>
                <a:latin typeface="Segoe UI" panose="020B0502040204020203"/>
              </a:defRPr>
            </a:pPr>
            <a:r>
              <a:t>2. Store Record</a:t>
            </a:r>
          </a:p>
          <a:p>
            <a:pPr>
              <a:defRPr sz="850">
                <a:solidFill>
                  <a:srgbClr val="718096"/>
                </a:solidFill>
                <a:latin typeface="Segoe UI" panose="020B0502040204020203"/>
              </a:defRPr>
            </a:pPr>
            <a:r>
              <a:t>Raw present/absent data stored directly in spreadsheet or DB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063240" y="3593592"/>
            <a:ext cx="274320" cy="182880"/>
          </a:xfrm>
          <a:prstGeom prst="downArrow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831336"/>
            <a:ext cx="4572000" cy="54864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3748"/>
                </a:solidFill>
                <a:latin typeface="Segoe UI" panose="020B0502040204020203"/>
              </a:defRPr>
            </a:pPr>
            <a:r>
              <a:t>3. Manual Checking</a:t>
            </a:r>
          </a:p>
          <a:p>
            <a:pPr>
              <a:defRPr sz="850">
                <a:solidFill>
                  <a:srgbClr val="718096"/>
                </a:solidFill>
                <a:latin typeface="Segoe UI" panose="020B0502040204020203"/>
              </a:defRPr>
            </a:pPr>
            <a:r>
              <a:t>Faculty manually audits sheets to catch proxies or discrepancies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97680"/>
            <a:ext cx="4754880" cy="991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3030"/>
                </a:solidFill>
                <a:latin typeface="Segoe UI" panose="020B0502040204020203"/>
              </a:defRPr>
            </a:pPr>
          </a:p>
          <a:p>
            <a:pPr>
              <a:defRPr sz="1000" b="1">
                <a:solidFill>
                  <a:srgbClr val="C53030"/>
                </a:solidFill>
                <a:latin typeface="Segoe UI" panose="020B0502040204020203"/>
              </a:defRPr>
            </a:pPr>
          </a:p>
          <a:p>
            <a:pPr>
              <a:defRPr sz="1000" b="1">
                <a:solidFill>
                  <a:srgbClr val="C53030"/>
                </a:solidFill>
                <a:latin typeface="Segoe UI" panose="020B0502040204020203"/>
              </a:defRPr>
            </a:pPr>
            <a:r>
              <a:t>Limitations of Traditional Approach:</a:t>
            </a:r>
          </a:p>
          <a:p>
            <a:pPr>
              <a:defRPr sz="950">
                <a:solidFill>
                  <a:srgbClr val="2D3748"/>
                </a:solidFill>
                <a:latin typeface="Segoe UI" panose="020B0502040204020203"/>
              </a:defRPr>
            </a:pPr>
            <a:r>
              <a:t>• Cannot detect proxy check-ins submitted for absent friends.</a:t>
            </a:r>
            <a:br/>
            <a:r>
              <a:t>• Duplicate logs from repeated retries pollute records.</a:t>
            </a:r>
            <a:br/>
            <a:r>
              <a:t>• Takes hours of manual faculty effort with poor accuracy.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645920"/>
            <a:ext cx="5303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645920"/>
            <a:ext cx="53035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Our System (Active Algorithmic Analysis)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194560"/>
            <a:ext cx="4572000" cy="438912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2540"/>
                </a:solidFill>
                <a:latin typeface="Segoe UI" panose="020B0502040204020203"/>
              </a:defRPr>
            </a:pPr>
            <a:r>
              <a:t>1. Attendance Ingestion: Check-in logs buffered in a hand-built queue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823960" y="2642616"/>
            <a:ext cx="219456" cy="146304"/>
          </a:xfrm>
          <a:prstGeom prst="down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0" y="2807208"/>
            <a:ext cx="4572000" cy="438912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2540"/>
                </a:solidFill>
                <a:latin typeface="Segoe UI" panose="020B0502040204020203"/>
              </a:defRPr>
            </a:pPr>
            <a:r>
              <a:t>2. Rabin-Karp Duplicate Check: O(1) expected hashing blocks repeat check-ins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823960" y="3255264"/>
            <a:ext cx="219456" cy="146304"/>
          </a:xfrm>
          <a:prstGeom prst="down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0" y="3419856"/>
            <a:ext cx="4572000" cy="438912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2540"/>
                </a:solidFill>
                <a:latin typeface="Segoe UI" panose="020B0502040204020203"/>
              </a:defRPr>
            </a:pPr>
            <a:r>
              <a:t>3. Flow &amp; String Analysis: Min-cut and Aho-Corasick expose proxy clusters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823960" y="3867912"/>
            <a:ext cx="219456" cy="146304"/>
          </a:xfrm>
          <a:prstGeom prst="down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0" y="4032504"/>
            <a:ext cx="4572000" cy="438912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2540"/>
                </a:solidFill>
                <a:latin typeface="Segoe UI" panose="020B0502040204020203"/>
              </a:defRPr>
            </a:pPr>
            <a:r>
              <a:t>4. Fraud Score Calculation: Assigns risk percentage (0–100%) to every log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8823960" y="4480560"/>
            <a:ext cx="219456" cy="146304"/>
          </a:xfrm>
          <a:prstGeom prst="down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75120" y="4645152"/>
            <a:ext cx="4572000" cy="438912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2540"/>
                </a:solidFill>
                <a:latin typeface="Segoe UI" panose="020B0502040204020203"/>
              </a:defRPr>
            </a:pPr>
            <a:r>
              <a:t>5. Dashboard &amp; Alerts: Faculty sees real-time alerts and attendance trends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715000"/>
            <a:ext cx="11064240" cy="384048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2540"/>
                </a:solidFill>
                <a:latin typeface="Segoe UI" panose="020B0502040204020203"/>
              </a:defRPr>
            </a:pPr>
            <a:r>
              <a:t>Instead of only storing attendance, our system also analyzes the attendance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11064240" cy="499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2540"/>
                </a:solidFill>
                <a:latin typeface="Segoe UI" panose="020B0502040204020203"/>
              </a:defRPr>
            </a:pPr>
            <a:r>
              <a:t>Adaptability of the Methodology</a:t>
            </a:r>
          </a:p>
          <a:p>
            <a:pPr>
              <a:spcBef>
                <a:spcPts val="300"/>
              </a:spcBef>
              <a:defRPr sz="1000" b="1">
                <a:solidFill>
                  <a:srgbClr val="2B6CB0"/>
                </a:solidFill>
                <a:latin typeface="Segoe UI" panose="020B0502040204020203"/>
              </a:defRPr>
            </a:pPr>
            <a:r>
              <a:t> Evaluation Criteria: Adaptability of Methodology – 10 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44752"/>
            <a:ext cx="11064240" cy="1371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280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18096"/>
                </a:solidFill>
                <a:latin typeface="Segoe UI" panose="020B0502040204020203"/>
              </a:defRPr>
            </a:pPr>
            <a:r>
              <a:t>7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4747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1. More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57984"/>
            <a:ext cx="32552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D3748"/>
                </a:solidFill>
                <a:latin typeface="Segoe UI" panose="020B0502040204020203"/>
              </a:defRPr>
            </a:pPr>
            <a:r>
              <a:t>The system can handle larger student lists. The hand-built hash table and dynamic array resize automatically as class batches grow from 60 to hundreds of students.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4592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747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2. More Attendance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2157984"/>
            <a:ext cx="32552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D3748"/>
                </a:solidFill>
                <a:latin typeface="Segoe UI" panose="020B0502040204020203"/>
              </a:defRPr>
            </a:pPr>
            <a:r>
              <a:t>Larger log volumes stay manageable. Parallel prefix-sum speeds up per-lecture counts, and reservoir sampling audits huge log streams in constant memory.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64592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645920"/>
            <a:ext cx="34747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3. New Fraud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157984"/>
            <a:ext cx="32552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D3748"/>
                </a:solidFill>
                <a:latin typeface="Segoe UI" panose="020B0502040204020203"/>
              </a:defRPr>
            </a:pPr>
            <a:r>
              <a:t>More checks can be added for suspicious attendance. The engine design allows adding rules like campus Wi-Fi SSID verification or device fingerprint matching.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7472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34747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4. New Algorithm 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986784"/>
            <a:ext cx="32552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D3748"/>
                </a:solidFill>
                <a:latin typeface="Segoe UI" panose="020B0502040204020203"/>
              </a:defRPr>
            </a:pPr>
            <a:r>
              <a:t>Suffix arrays, bitmask DP, or min-cost max-flow can be added later. Min-cost flow can optimally assign flagged logs to faculty as proxy networks grow.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347472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474720"/>
            <a:ext cx="34747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5. Different Institutions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3986784"/>
            <a:ext cx="32552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D3748"/>
                </a:solidFill>
                <a:latin typeface="Segoe UI" panose="020B0502040204020203"/>
              </a:defRPr>
            </a:pPr>
            <a:r>
              <a:t>The same basic idea can be adapted for colleges, schools, or training centres by updating class timetables and student roster files.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47472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3474720"/>
            <a:ext cx="34747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6. Dashboard Extensions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986784"/>
            <a:ext cx="32552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D3748"/>
                </a:solidFill>
                <a:latin typeface="Segoe UI" panose="020B0502040204020203"/>
              </a:defRPr>
            </a:pPr>
            <a:r>
              <a:t>More reports and charts can be added when needed. Faculty can easily attach monthly attendance trends, absentee predictions, and PDF export modules.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0352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486400"/>
            <a:ext cx="1737360" cy="438912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91440" rIns="0" rtlCol="0" anchor="ctr"/>
          <a:lstStyle/>
          <a:p>
            <a:pPr algn="ctr">
              <a:defRPr sz="1000" b="1">
                <a:solidFill>
                  <a:srgbClr val="0A2540"/>
                </a:solidFill>
                <a:latin typeface="Segoe UI" panose="020B0502040204020203"/>
              </a:defRPr>
            </a:pPr>
            <a:r>
              <a:t>Current System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670048" y="5614416"/>
            <a:ext cx="274320" cy="18288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63240" y="5486400"/>
            <a:ext cx="1737360" cy="438912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91440" rIns="0" rtlCol="0" anchor="ctr"/>
          <a:lstStyle/>
          <a:p>
            <a:pPr algn="ctr">
              <a:defRPr sz="1000" b="1">
                <a:solidFill>
                  <a:srgbClr val="0A2540"/>
                </a:solidFill>
                <a:latin typeface="Segoe UI" panose="020B0502040204020203"/>
              </a:defRPr>
            </a:pPr>
            <a:r>
              <a:t>More Students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910328" y="5614416"/>
            <a:ext cx="274320" cy="18288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03520" y="5486400"/>
            <a:ext cx="1737360" cy="438912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91440" rIns="0" rtlCol="0" anchor="ctr"/>
          <a:lstStyle/>
          <a:p>
            <a:pPr algn="ctr">
              <a:defRPr sz="1000" b="1">
                <a:solidFill>
                  <a:srgbClr val="0A2540"/>
                </a:solidFill>
                <a:latin typeface="Segoe UI" panose="020B0502040204020203"/>
              </a:defRPr>
            </a:pPr>
            <a:r>
              <a:t>More Rules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150608" y="5614416"/>
            <a:ext cx="274320" cy="18288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43800" y="5486400"/>
            <a:ext cx="1737360" cy="438912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91440" rIns="0" rtlCol="0" anchor="ctr"/>
          <a:lstStyle/>
          <a:p>
            <a:pPr algn="ctr">
              <a:defRPr sz="1000" b="1">
                <a:solidFill>
                  <a:srgbClr val="0A2540"/>
                </a:solidFill>
                <a:latin typeface="Segoe UI" panose="020B0502040204020203"/>
              </a:defRPr>
            </a:pPr>
            <a:r>
              <a:t>More Analytics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390888" y="5614416"/>
            <a:ext cx="274320" cy="18288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784080" y="5486400"/>
            <a:ext cx="1737360" cy="438912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91440" r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 panose="020B0502040204020203"/>
              </a:defRPr>
            </a:pPr>
            <a:r>
              <a:t>Expanded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11064240" cy="499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2540"/>
                </a:solidFill>
                <a:latin typeface="Segoe UI" panose="020B0502040204020203"/>
              </a:defRPr>
            </a:pPr>
            <a:r>
              <a:t>Methodology Evaluation</a:t>
            </a:r>
          </a:p>
          <a:p>
            <a:pPr>
              <a:spcBef>
                <a:spcPts val="300"/>
              </a:spcBef>
              <a:defRPr sz="1000" b="1">
                <a:solidFill>
                  <a:srgbClr val="2B6CB0"/>
                </a:solidFill>
                <a:latin typeface="Segoe UI" panose="020B0502040204020203"/>
              </a:defRPr>
            </a:pPr>
            <a:r>
              <a:t>Evaluation Criteria: Methodology Evaluation – 10 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44752"/>
            <a:ext cx="11064240" cy="1371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280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18096"/>
                </a:solidFill>
                <a:latin typeface="Segoe UI" panose="020B0502040204020203"/>
              </a:defRPr>
            </a:pPr>
            <a:r>
              <a:t>8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035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Detection &amp;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39696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 b="1">
                <a:solidFill>
                  <a:srgbClr val="0066CC"/>
                </a:solidFill>
                <a:latin typeface="Segoe UI" panose="020B0502040204020203"/>
              </a:rPr>
              <a:t>• Duplicate detection accuracy: </a:t>
            </a:r>
            <a:r>
              <a:rPr sz="950">
                <a:solidFill>
                  <a:srgbClr val="2D3748"/>
                </a:solidFill>
                <a:latin typeface="Segoe UI" panose="020B0502040204020203"/>
              </a:rPr>
              <a:t>Verifies that all repeat check-ins within the same lecture session are detected and blocked.</a:t>
            </a:r>
            <a:endParaRPr sz="950">
              <a:solidFill>
                <a:srgbClr val="2D3748"/>
              </a:solidFill>
              <a:latin typeface="Segoe UI" panose="020B0502040204020203"/>
            </a:endParaRP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066CC"/>
                </a:solidFill>
                <a:latin typeface="Segoe UI" panose="020B0502040204020203"/>
              </a:rPr>
              <a:t>• Fraud detection behaviour: </a:t>
            </a:r>
            <a:r>
              <a:rPr sz="950">
                <a:solidFill>
                  <a:srgbClr val="2D3748"/>
                </a:solidFill>
                <a:latin typeface="Segoe UI" panose="020B0502040204020203"/>
              </a:rPr>
              <a:t>Evaluates how the scoring formula reacts to single vs multiple proxy indicators.</a:t>
            </a:r>
            <a:endParaRPr sz="950">
              <a:solidFill>
                <a:srgbClr val="2D3748"/>
              </a:solidFill>
              <a:latin typeface="Segoe UI" panose="020B05020402040202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3035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Algorithm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39696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 b="1">
                <a:solidFill>
                  <a:srgbClr val="0066CC"/>
                </a:solidFill>
                <a:latin typeface="Segoe UI" panose="020B0502040204020203"/>
              </a:rPr>
              <a:t>• Rabin-Karp hashing performance: </a:t>
            </a:r>
            <a:r>
              <a:rPr sz="950">
                <a:solidFill>
                  <a:srgbClr val="2D3748"/>
                </a:solidFill>
                <a:latin typeface="Segoe UI" panose="020B0502040204020203"/>
              </a:rPr>
              <a:t>Measures O(1) expected response time and collision rate during duplicate checks under varying log volumes.</a:t>
            </a:r>
            <a:endParaRPr sz="950">
              <a:solidFill>
                <a:srgbClr val="2D3748"/>
              </a:solidFill>
              <a:latin typeface="Segoe UI" panose="020B0502040204020203"/>
            </a:endParaRP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066CC"/>
                </a:solidFill>
                <a:latin typeface="Segoe UI" panose="020B0502040204020203"/>
              </a:rPr>
              <a:t>• Queue processing throughput: </a:t>
            </a:r>
            <a:r>
              <a:rPr sz="950">
                <a:solidFill>
                  <a:srgbClr val="2D3748"/>
                </a:solidFill>
                <a:latin typeface="Segoe UI" panose="020B0502040204020203"/>
              </a:rPr>
              <a:t>Measures FIFO log intake rate to ensure no lag during peak lecture check-in rush.</a:t>
            </a:r>
            <a:endParaRPr sz="950">
              <a:solidFill>
                <a:srgbClr val="2D3748"/>
              </a:solidFill>
              <a:latin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347472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53035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Algorithmic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68496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 b="1">
                <a:solidFill>
                  <a:srgbClr val="0066CC"/>
                </a:solidFill>
                <a:latin typeface="Segoe UI" panose="020B0502040204020203"/>
              </a:rPr>
              <a:t>• Flow group detection: </a:t>
            </a:r>
            <a:r>
              <a:rPr sz="950">
                <a:solidFill>
                  <a:srgbClr val="2D3748"/>
                </a:solidFill>
                <a:latin typeface="Segoe UI" panose="020B0502040204020203"/>
              </a:rPr>
              <a:t>Verifies that max-flow/min-cut separates student clusters sharing identical IPs and timestamps.</a:t>
            </a:r>
            <a:endParaRPr sz="950">
              <a:solidFill>
                <a:srgbClr val="2D3748"/>
              </a:solidFill>
              <a:latin typeface="Segoe UI" panose="020B0502040204020203"/>
            </a:endParaRP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066CC"/>
                </a:solidFill>
                <a:latin typeface="Segoe UI" panose="020B0502040204020203"/>
              </a:rPr>
              <a:t>• String &amp; DP performance: </a:t>
            </a:r>
            <a:r>
              <a:rPr sz="950">
                <a:solidFill>
                  <a:srgbClr val="2D3748"/>
                </a:solidFill>
                <a:latin typeface="Segoe UI" panose="020B0502040204020203"/>
              </a:rPr>
              <a:t>Measures KMP/Aho-Corasick O(n + m) scanning and edit-distance O(nm) matching speed.</a:t>
            </a:r>
            <a:endParaRPr sz="950">
              <a:solidFill>
                <a:srgbClr val="2D3748"/>
              </a:solidFill>
              <a:latin typeface="Segoe UI" panose="020B0502040204020203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309360" y="347472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3474720"/>
            <a:ext cx="53035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System Stability &amp; 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68496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 b="1">
                <a:solidFill>
                  <a:srgbClr val="0066CC"/>
                </a:solidFill>
                <a:latin typeface="Segoe UI" panose="020B0502040204020203"/>
              </a:rPr>
              <a:t>• Dashboard response: </a:t>
            </a:r>
            <a:r>
              <a:rPr sz="950">
                <a:solidFill>
                  <a:srgbClr val="2D3748"/>
                </a:solidFill>
                <a:latin typeface="Segoe UI" panose="020B0502040204020203"/>
              </a:rPr>
              <a:t>Checks how quickly the faculty interface refreshes active student statistics and alerts.</a:t>
            </a:r>
            <a:endParaRPr sz="950">
              <a:solidFill>
                <a:srgbClr val="2D3748"/>
              </a:solidFill>
              <a:latin typeface="Segoe UI" panose="020B0502040204020203"/>
            </a:endParaRP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066CC"/>
                </a:solidFill>
                <a:latin typeface="Segoe UI" panose="020B0502040204020203"/>
              </a:rPr>
              <a:t>• Behavior with more records: </a:t>
            </a:r>
            <a:r>
              <a:rPr sz="950">
                <a:solidFill>
                  <a:srgbClr val="2D3748"/>
                </a:solidFill>
                <a:latin typeface="Segoe UI" panose="020B0502040204020203"/>
              </a:rPr>
              <a:t>Monitors memory usage and execution time as total attendance logs increase.</a:t>
            </a:r>
            <a:endParaRPr sz="950">
              <a:solidFill>
                <a:srgbClr val="2D3748"/>
              </a:solidFill>
              <a:latin typeface="Segoe UI" panose="020B0502040204020203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530352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417320" cy="438912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91440" rIns="0" rtlCol="0" anchor="ctr"/>
          <a:lstStyle/>
          <a:p>
            <a:pPr algn="ctr">
              <a:defRPr sz="950" b="1">
                <a:solidFill>
                  <a:srgbClr val="0A2540"/>
                </a:solidFill>
                <a:latin typeface="Segoe UI" panose="020B0502040204020203"/>
              </a:defRPr>
            </a:pPr>
            <a:r>
              <a:t>Test Data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240280" y="5614416"/>
            <a:ext cx="256032" cy="164592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87752" y="5486400"/>
            <a:ext cx="1417320" cy="438912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91440" rIns="0" rtlCol="0" anchor="ctr"/>
          <a:lstStyle/>
          <a:p>
            <a:pPr algn="ctr">
              <a:defRPr sz="950" b="1">
                <a:solidFill>
                  <a:srgbClr val="0A2540"/>
                </a:solidFill>
                <a:latin typeface="Segoe UI" panose="020B0502040204020203"/>
              </a:defRPr>
            </a:pPr>
            <a:r>
              <a:t>Run System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96512" y="5614416"/>
            <a:ext cx="256032" cy="164592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43984" y="5486400"/>
            <a:ext cx="1417320" cy="438912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91440" rIns="0" rtlCol="0" anchor="ctr"/>
          <a:lstStyle/>
          <a:p>
            <a:pPr algn="ctr">
              <a:defRPr sz="950" b="1">
                <a:solidFill>
                  <a:srgbClr val="0A2540"/>
                </a:solidFill>
                <a:latin typeface="Segoe UI" panose="020B0502040204020203"/>
              </a:defRPr>
            </a:pPr>
            <a:r>
              <a:t>Apply Algorithms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52744" y="5614416"/>
            <a:ext cx="256032" cy="164592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0216" y="5486400"/>
            <a:ext cx="1417320" cy="438912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91440" rIns="0" rtlCol="0" anchor="ctr"/>
          <a:lstStyle/>
          <a:p>
            <a:pPr algn="ctr">
              <a:defRPr sz="950" b="1">
                <a:solidFill>
                  <a:srgbClr val="0A2540"/>
                </a:solidFill>
                <a:latin typeface="Segoe UI" panose="020B0502040204020203"/>
              </a:defRPr>
            </a:pPr>
            <a:r>
              <a:t>Check Results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808976" y="5614416"/>
            <a:ext cx="256032" cy="164592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56448" y="5486400"/>
            <a:ext cx="1417320" cy="438912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91440" rIns="0" rtlCol="0" anchor="ctr"/>
          <a:lstStyle/>
          <a:p>
            <a:pPr algn="ctr">
              <a:defRPr sz="950" b="1">
                <a:solidFill>
                  <a:srgbClr val="0A2540"/>
                </a:solidFill>
                <a:latin typeface="Segoe UI" panose="020B0502040204020203"/>
              </a:defRPr>
            </a:pPr>
            <a:r>
              <a:t>Measure Speed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665208" y="5614416"/>
            <a:ext cx="256032" cy="164592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12680" y="5486400"/>
            <a:ext cx="1417320" cy="438912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91440" rIns="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Compare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11064240" cy="499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2540"/>
                </a:solidFill>
                <a:latin typeface="Segoe UI" panose="020B0502040204020203"/>
              </a:defRPr>
            </a:pPr>
            <a:r>
              <a:t>Sample Test Cases</a:t>
            </a:r>
          </a:p>
          <a:p>
            <a:pPr>
              <a:spcBef>
                <a:spcPts val="300"/>
              </a:spcBef>
              <a:defRPr sz="1000" b="1">
                <a:solidFill>
                  <a:srgbClr val="2B6CB0"/>
                </a:solidFill>
                <a:latin typeface="Segoe UI" panose="020B0502040204020203"/>
              </a:defRPr>
            </a:pPr>
            <a:r>
              <a:t>Evaluation Criteria: Methodology Evaluation – 10 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44752"/>
            <a:ext cx="11064240" cy="1371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280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18096"/>
                </a:solidFill>
                <a:latin typeface="Segoe UI" panose="020B0502040204020203"/>
              </a:defRPr>
            </a:pPr>
            <a:r>
              <a:t>9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748"/>
                </a:solidFill>
                <a:latin typeface="Segoe UI" panose="020B0502040204020203"/>
              </a:defRPr>
            </a:pPr>
            <a:r>
              <a:t>Sample test scenarios used to evaluate the behavior of the algorithms under normal and suspicious conditions: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74519"/>
          <a:ext cx="11064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108960"/>
                <a:gridCol w="4297680"/>
                <a:gridCol w="2194560"/>
              </a:tblGrid>
              <a:tr h="655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Test Case</a:t>
                      </a:r>
                    </a:p>
                  </a:txBody>
                  <a:tcPr marL="137160" marR="13716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Input Scenario</a:t>
                      </a:r>
                    </a:p>
                  </a:txBody>
                  <a:tcPr marL="137160" marR="13716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Expected System Action</a:t>
                      </a:r>
                    </a:p>
                  </a:txBody>
                  <a:tcPr marL="137160" marR="13716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Target Algorithm</a:t>
                      </a:r>
                    </a:p>
                  </a:txBody>
                  <a:tcPr marL="137160" marR="137160">
                    <a:solidFill>
                      <a:srgbClr val="0A254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A2540"/>
                          </a:solidFill>
                          <a:latin typeface="Segoe UI" panose="020B0502040204020203"/>
                        </a:defRPr>
                      </a:pPr>
                      <a:r>
                        <a:t>Test Case 1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Normal attendance check-in with valid ID and unique student IP.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Attendance accepted; fraud score remains 0% (Low).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Rabin-Karp </a:t>
                      </a:r>
                      <a:r>
                        <a:rPr lang="en-US"/>
                        <a:t>Hash Miss</a:t>
                      </a:r>
                      <a:endParaRPr lang="en-US"/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A2540"/>
                          </a:solidFill>
                          <a:latin typeface="Segoe UI" panose="020B0502040204020203"/>
                        </a:defRPr>
                      </a:pPr>
                      <a:r>
                        <a:t>Test Case 2</a:t>
                      </a:r>
                    </a:p>
                  </a:txBody>
                  <a:tcPr marL="137160" marR="13716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Same student ID submits twice within the same class session.</a:t>
                      </a:r>
                    </a:p>
                  </a:txBody>
                  <a:tcPr marL="137160" marR="13716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Duplicate detected; second entry is blocked immediately.</a:t>
                      </a:r>
                    </a:p>
                  </a:txBody>
                  <a:tcPr marL="137160" marR="13716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Rabin-Karp Hash Match</a:t>
                      </a:r>
                    </a:p>
                  </a:txBody>
                  <a:tcPr marL="137160" marR="137160">
                    <a:solidFill>
                      <a:srgbClr val="F7FA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A2540"/>
                          </a:solidFill>
                          <a:latin typeface="Segoe UI" panose="020B0502040204020203"/>
                        </a:defRPr>
                      </a:pPr>
                      <a:r>
                        <a:t>Test Case 3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Many students check in using the exact same suspicious IP and time.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Similarity graph flagged; min-cut isolates the proxy group.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Dinic Max-Flow / Min-Cut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A2540"/>
                          </a:solidFill>
                          <a:latin typeface="Segoe UI" panose="020B0502040204020203"/>
                        </a:defRPr>
                      </a:pPr>
                      <a:r>
                        <a:t>Test Case 4</a:t>
                      </a:r>
                    </a:p>
                  </a:txBody>
                  <a:tcPr marL="137160" marR="13716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Attendance submitted with unusual timing, device, or remote IP.</a:t>
                      </a:r>
                    </a:p>
                  </a:txBody>
                  <a:tcPr marL="137160" marR="13716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Higher fraud score assigned; flagged for faculty inspection.</a:t>
                      </a:r>
                    </a:p>
                  </a:txBody>
                  <a:tcPr marL="137160" marR="13716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Aho-Corasick + Edit Distance</a:t>
                      </a:r>
                    </a:p>
                  </a:txBody>
                  <a:tcPr marL="137160" marR="137160">
                    <a:solidFill>
                      <a:srgbClr val="F7FA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A2540"/>
                          </a:solidFill>
                          <a:latin typeface="Segoe UI" panose="020B0502040204020203"/>
                        </a:defRPr>
                      </a:pPr>
                      <a:r>
                        <a:t>Test Case 5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Regular student attendance history across multiple lectures.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Low alignment with other students' timelines; attendance counted toward total.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Needleman-Wunsch DP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2540"/>
                </a:solidFill>
                <a:latin typeface="Segoe UI" panose="020B0502040204020203"/>
              </a:defRPr>
            </a:pPr>
            <a:r>
              <a:t>Evaluation Summary: Test cases demonstrate that duplicate records are blocked and proxy patterns are flagged cleanly.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11064240" cy="499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2540"/>
                </a:solidFill>
                <a:latin typeface="Segoe UI" panose="020B0502040204020203"/>
              </a:defRPr>
            </a:pPr>
            <a:r>
              <a:t>Dissemination and Accessibility</a:t>
            </a:r>
          </a:p>
          <a:p>
            <a:pPr>
              <a:spcBef>
                <a:spcPts val="300"/>
              </a:spcBef>
              <a:defRPr sz="1000" b="1">
                <a:solidFill>
                  <a:srgbClr val="2B6CB0"/>
                </a:solidFill>
                <a:latin typeface="Segoe UI" panose="020B0502040204020203"/>
              </a:defRPr>
            </a:pPr>
            <a:r>
              <a:t> Evaluation Criteria: Dissemination and Accessibility – 10 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44752"/>
            <a:ext cx="11064240" cy="1371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280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18096"/>
                </a:solidFill>
                <a:latin typeface="Segoe UI" panose="020B0502040204020203"/>
              </a:defRPr>
            </a:pPr>
            <a:r>
              <a:t>10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4747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1. Faculty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57984"/>
            <a:ext cx="32552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D3748"/>
                </a:solidFill>
                <a:latin typeface="Segoe UI" panose="020B0502040204020203"/>
              </a:defRPr>
            </a:pPr>
            <a:r>
              <a:t>Faculty dashboard gives a quick, clear view of attendance. It shows total enrolled, present count, and percentage in real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4592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747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2. Visual Fraud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2157984"/>
            <a:ext cx="32552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D3748"/>
                </a:solidFill>
                <a:latin typeface="Segoe UI" panose="020B0502040204020203"/>
              </a:defRPr>
            </a:pPr>
            <a:r>
              <a:t>Fraud alerts make suspicious records easy to find. High-risk entries are highlighted with clear color tags so faculty spot them immediately.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64592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645920"/>
            <a:ext cx="34747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3. Attendance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157984"/>
            <a:ext cx="32552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D3748"/>
                </a:solidFill>
                <a:latin typeface="Segoe UI" panose="020B0502040204020203"/>
              </a:defRPr>
            </a:pPr>
            <a:r>
              <a:t>Visual charts show weekly and monthly attendance patterns. Faculty can track class engagement over time without manual counting.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7472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34747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4. Automated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986784"/>
            <a:ext cx="32552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D3748"/>
                </a:solidFill>
                <a:latin typeface="Segoe UI" panose="020B0502040204020203"/>
              </a:defRPr>
            </a:pPr>
            <a:r>
              <a:t>Reports can be generated for further checking. Attendance sheets can be exported in CSV/PDF format with one click for department records.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347472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474720"/>
            <a:ext cx="34747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5. Simple, Clear 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3986784"/>
            <a:ext cx="32552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D3748"/>
                </a:solidFill>
                <a:latin typeface="Segoe UI" panose="020B0502040204020203"/>
              </a:defRPr>
            </a:pPr>
            <a:r>
              <a:t>Clear labels make the system easier to understand. The interface uses plain words rather than complex terms so any faculty can use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47472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3474720"/>
            <a:ext cx="3474720" cy="38404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6. Direct Information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986784"/>
            <a:ext cx="32552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D3748"/>
                </a:solidFill>
                <a:latin typeface="Segoe UI" panose="020B0502040204020203"/>
              </a:defRPr>
            </a:pPr>
            <a:r>
              <a:t>Important information is shown directly without requiring faculty to check raw database records or write SQL queries.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0352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486400"/>
            <a:ext cx="1737360" cy="438912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91440" rIns="0" rtlCol="0" anchor="ctr"/>
          <a:lstStyle/>
          <a:p>
            <a:pPr algn="ctr">
              <a:defRPr sz="1000" b="1">
                <a:solidFill>
                  <a:srgbClr val="0A2540"/>
                </a:solidFill>
                <a:latin typeface="Segoe UI" panose="020B0502040204020203"/>
              </a:defRPr>
            </a:pPr>
            <a:r>
              <a:t>Attendance Data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670048" y="5614416"/>
            <a:ext cx="274320" cy="18288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63240" y="5486400"/>
            <a:ext cx="1737360" cy="438912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91440" rIns="0" rtlCol="0" anchor="ctr"/>
          <a:lstStyle/>
          <a:p>
            <a:pPr algn="ctr">
              <a:defRPr sz="1000" b="1">
                <a:solidFill>
                  <a:srgbClr val="0A2540"/>
                </a:solidFill>
                <a:latin typeface="Segoe UI" panose="020B0502040204020203"/>
              </a:defRPr>
            </a:pPr>
            <a:r>
              <a:t>Fraud Detection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910328" y="5614416"/>
            <a:ext cx="274320" cy="18288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03520" y="5486400"/>
            <a:ext cx="1737360" cy="438912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91440" rIns="0" rtlCol="0" anchor="ctr"/>
          <a:lstStyle/>
          <a:p>
            <a:pPr algn="ctr">
              <a:defRPr sz="1000" b="1">
                <a:solidFill>
                  <a:srgbClr val="0A2540"/>
                </a:solidFill>
                <a:latin typeface="Segoe UI" panose="020B0502040204020203"/>
              </a:defRPr>
            </a:pPr>
            <a:r>
              <a:t>Analytics Layer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150608" y="5614416"/>
            <a:ext cx="274320" cy="18288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43800" y="5486400"/>
            <a:ext cx="1737360" cy="438912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91440" rIns="0" rtlCol="0" anchor="ctr"/>
          <a:lstStyle/>
          <a:p>
            <a:pPr algn="ctr">
              <a:defRPr sz="1000" b="1">
                <a:solidFill>
                  <a:srgbClr val="0A2540"/>
                </a:solidFill>
                <a:latin typeface="Segoe UI" panose="020B0502040204020203"/>
              </a:defRPr>
            </a:pPr>
            <a:r>
              <a:t>Web Dashboard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390888" y="5614416"/>
            <a:ext cx="274320" cy="18288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784080" y="5486400"/>
            <a:ext cx="1737360" cy="438912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91440" r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 panose="020B0502040204020203"/>
              </a:defRPr>
            </a:pPr>
            <a:r>
              <a:t>Faculty 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11064240" cy="499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2540"/>
                </a:solidFill>
                <a:latin typeface="Segoe UI" panose="020B0502040204020203"/>
              </a:defRPr>
            </a:pPr>
            <a:r>
              <a:t>System Output</a:t>
            </a:r>
          </a:p>
          <a:p>
            <a:pPr>
              <a:spcBef>
                <a:spcPts val="300"/>
              </a:spcBef>
              <a:defRPr sz="1000" b="1">
                <a:solidFill>
                  <a:srgbClr val="2B6CB0"/>
                </a:solidFill>
                <a:latin typeface="Segoe UI" panose="020B0502040204020203"/>
              </a:defRPr>
            </a:pPr>
            <a:r>
              <a:t>Evaluation Criteria: Dissemination and Accessibility – 10 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44752"/>
            <a:ext cx="11064240" cy="1371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280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18096"/>
                </a:solidFill>
                <a:latin typeface="Segoe UI" panose="020B0502040204020203"/>
              </a:defRPr>
            </a:pPr>
            <a:r>
              <a:t>11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A2540"/>
                </a:solidFill>
                <a:latin typeface="Segoe UI" panose="020B0502040204020203"/>
              </a:defRPr>
            </a:pPr>
            <a:r>
              <a:t>Faculty Portal Dashboard View (Sample / Mock Data based on Review-1 prototype):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237744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18096"/>
                </a:solidFill>
                <a:latin typeface="Segoe UI" panose="020B0502040204020203"/>
              </a:defRPr>
            </a:pPr>
            <a:r>
              <a:t>Total Enrolled</a:t>
            </a:r>
          </a:p>
          <a:p>
            <a:pPr>
              <a:spcBef>
                <a:spcPts val="200"/>
              </a:spcBef>
              <a:defRPr sz="1600" b="1">
                <a:solidFill>
                  <a:srgbClr val="0A2540"/>
                </a:solidFill>
                <a:latin typeface="Segoe UI" panose="020B0502040204020203"/>
              </a:defRPr>
            </a:pPr>
            <a:r>
              <a:t>120 Students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78308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856232"/>
            <a:ext cx="237744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18096"/>
                </a:solidFill>
                <a:latin typeface="Segoe UI" panose="020B0502040204020203"/>
              </a:defRPr>
            </a:pPr>
            <a:r>
              <a:t>Avg Attendance</a:t>
            </a:r>
          </a:p>
          <a:p>
            <a:pPr>
              <a:spcBef>
                <a:spcPts val="200"/>
              </a:spcBef>
              <a:defRPr sz="1600" b="1">
                <a:solidFill>
                  <a:srgbClr val="2B6CB0"/>
                </a:solidFill>
                <a:latin typeface="Segoe UI" panose="020B0502040204020203"/>
              </a:defRPr>
            </a:pPr>
            <a:r>
              <a:t>88.2 %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56232"/>
            <a:ext cx="237744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18096"/>
                </a:solidFill>
                <a:latin typeface="Segoe UI" panose="020B0502040204020203"/>
              </a:defRPr>
            </a:pPr>
            <a:r>
              <a:t>Critical Flags</a:t>
            </a:r>
          </a:p>
          <a:p>
            <a:pPr>
              <a:spcBef>
                <a:spcPts val="200"/>
              </a:spcBef>
              <a:defRPr sz="1600" b="1">
                <a:solidFill>
                  <a:srgbClr val="C53030"/>
                </a:solidFill>
                <a:latin typeface="Segoe UI" panose="020B0502040204020203"/>
              </a:defRPr>
            </a:pPr>
            <a:r>
              <a:t>3 Students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78308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856232"/>
            <a:ext cx="237744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18096"/>
                </a:solidFill>
                <a:latin typeface="Segoe UI" panose="020B0502040204020203"/>
              </a:defRPr>
            </a:pPr>
            <a:r>
              <a:t>System Status</a:t>
            </a:r>
          </a:p>
          <a:p>
            <a:pPr>
              <a:spcBef>
                <a:spcPts val="200"/>
              </a:spcBef>
              <a:defRPr sz="1600" b="1">
                <a:solidFill>
                  <a:srgbClr val="2F855A"/>
                </a:solidFill>
                <a:latin typeface="Segoe UI" panose="020B0502040204020203"/>
              </a:defRPr>
            </a:pPr>
            <a:r>
              <a:t>Active Monitoring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2834640"/>
          <a:ext cx="68580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2468880"/>
                <a:gridCol w="1463040"/>
              </a:tblGrid>
              <a:tr h="6629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Student ID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Fraud Score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Detected Reason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Action Status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 panose="020B0502040204020203"/>
                        </a:defRPr>
                      </a:pPr>
                      <a:r>
                        <a:t>2510030290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53030"/>
                          </a:solidFill>
                          <a:latin typeface="Segoe UI" panose="020B0502040204020203"/>
                        </a:defRPr>
                      </a:pPr>
                      <a:r>
                        <a:t>85% (High)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Duplicate logs from distinct 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Flagged for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 panose="020B0502040204020203"/>
                        </a:defRPr>
                      </a:pPr>
                      <a:r>
                        <a:t>2510030415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53030"/>
                          </a:solidFill>
                          <a:latin typeface="Segoe UI" panose="020B0502040204020203"/>
                        </a:defRPr>
                      </a:pPr>
                      <a:r>
                        <a:t>90% (High)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IP Mismatch - 2 logs in 1 min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Proxy Alert Raised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 panose="020B0502040204020203"/>
                        </a:defRPr>
                      </a:pPr>
                      <a:r>
                        <a:t>2510030110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69E2E"/>
                          </a:solidFill>
                          <a:latin typeface="Segoe UI" panose="020B0502040204020203"/>
                        </a:defRPr>
                      </a:pPr>
                      <a:r>
                        <a:t>45% (Medium)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High-velocity check-in pattern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D3748"/>
                          </a:solidFill>
                          <a:latin typeface="Segoe UI" panose="020B0502040204020203"/>
                        </a:defRPr>
                      </a:pPr>
                      <a:r>
                        <a:t>Under Observation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680960" y="2834640"/>
            <a:ext cx="3931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0" y="2834640"/>
            <a:ext cx="3931920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Weekly Attendance Trend (Sample)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346704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D3748"/>
                </a:solidFill>
                <a:latin typeface="Segoe UI" panose="020B0502040204020203"/>
              </a:defRPr>
            </a:pPr>
            <a:r>
              <a:t>• Monday: 92.5% attendance</a:t>
            </a:r>
          </a:p>
          <a:p>
            <a:pPr>
              <a:spcBef>
                <a:spcPts val="300"/>
              </a:spcBef>
              <a:defRPr sz="950" b="0">
                <a:solidFill>
                  <a:srgbClr val="2D3748"/>
                </a:solidFill>
                <a:latin typeface="Segoe UI" panose="020B0502040204020203"/>
              </a:defRPr>
            </a:pPr>
            <a:r>
              <a:t>• Tuesday: 89.0% attendance</a:t>
            </a:r>
          </a:p>
          <a:p>
            <a:pPr>
              <a:spcBef>
                <a:spcPts val="300"/>
              </a:spcBef>
              <a:defRPr sz="950" b="0">
                <a:solidFill>
                  <a:srgbClr val="2D3748"/>
                </a:solidFill>
                <a:latin typeface="Segoe UI" panose="020B0502040204020203"/>
              </a:defRPr>
            </a:pPr>
            <a:r>
              <a:t>• Wednesday: 88.2% attendance</a:t>
            </a:r>
          </a:p>
          <a:p>
            <a:pPr>
              <a:spcBef>
                <a:spcPts val="300"/>
              </a:spcBef>
              <a:defRPr sz="950" b="0">
                <a:solidFill>
                  <a:srgbClr val="2D3748"/>
                </a:solidFill>
                <a:latin typeface="Segoe UI" panose="020B0502040204020203"/>
              </a:defRPr>
            </a:pPr>
            <a:r>
              <a:t>• Thursday: 86.5% attendance</a:t>
            </a:r>
          </a:p>
          <a:p>
            <a:pPr>
              <a:spcBef>
                <a:spcPts val="300"/>
              </a:spcBef>
              <a:defRPr sz="950" b="0">
                <a:solidFill>
                  <a:srgbClr val="2D3748"/>
                </a:solidFill>
                <a:latin typeface="Segoe UI" panose="020B0502040204020203"/>
              </a:defRPr>
            </a:pPr>
            <a:r>
              <a:t>• Friday: 86.0% attendance</a:t>
            </a:r>
          </a:p>
          <a:p>
            <a:pPr>
              <a:spcBef>
                <a:spcPts val="300"/>
              </a:spcBef>
              <a:defRPr sz="950" b="1">
                <a:solidFill>
                  <a:srgbClr val="C53030"/>
                </a:solidFill>
                <a:latin typeface="Segoe UI" panose="020B0502040204020203"/>
              </a:defRPr>
            </a:pPr>
            <a:br/>
            <a:r>
              <a:t>Faculty Alert Threshold: Triggered automatically when fraud score exceeds 70%.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715000"/>
            <a:ext cx="11064240" cy="384048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C4221"/>
                </a:solidFill>
                <a:latin typeface="Segoe UI" panose="020B0502040204020203"/>
              </a:defRPr>
            </a:pPr>
            <a:r>
              <a:t>* Note: Values shown above represent Sample / Mock Data based on the project prototype.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Segoe UI" panose="020B0502040204020203"/>
              </a:defRPr>
            </a:pPr>
            <a:r>
              <a:t>THANK YOU</a:t>
            </a:r>
          </a:p>
          <a:p>
            <a:pPr>
              <a:spcBef>
                <a:spcPts val="600"/>
              </a:spcBef>
              <a:defRPr sz="2000" b="1">
                <a:solidFill>
                  <a:srgbClr val="2B6CB0"/>
                </a:solidFill>
                <a:latin typeface="Segoe UI" panose="020B0502040204020203"/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658368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 panose="020B0502040204020203"/>
              </a:defRPr>
            </a:pPr>
            <a:r>
              <a:t>INTELLIGENT ATTENDANCE ANALYTICS PLATFORM WITH FRAUD DETECTION</a:t>
            </a:r>
          </a:p>
          <a:p>
            <a:pPr>
              <a:defRPr sz="1300" b="1">
                <a:solidFill>
                  <a:srgbClr val="FFFFFF"/>
                </a:solidFill>
                <a:latin typeface="Segoe UI" panose="020B0502040204020203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200400" cy="1737360"/>
          </a:xfrm>
          <a:prstGeom prst="rect">
            <a:avLst/>
          </a:prstGeom>
          <a:solidFill>
            <a:srgbClr val="06162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206240"/>
            <a:ext cx="2926080" cy="87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6CB0"/>
                </a:solidFill>
                <a:latin typeface="Segoe UI" panose="020B0502040204020203"/>
              </a:defRPr>
            </a:pPr>
            <a:r>
              <a:t>Project Guide: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 panose="020B0502040204020203"/>
              </a:defRPr>
            </a:pPr>
            <a:r>
              <a:rPr lang="en-US"/>
              <a:t>Dr</a:t>
            </a:r>
            <a:r>
              <a:t>. Anitha Patil Madam</a:t>
            </a:r>
          </a:p>
          <a:p>
            <a:pPr>
              <a:spcBef>
                <a:spcPts val="400"/>
              </a:spcBef>
              <a:defRPr sz="1000">
                <a:solidFill>
                  <a:srgbClr val="CBD5E0"/>
                </a:solidFill>
                <a:latin typeface="Segoe UI" panose="020B0502040204020203"/>
              </a:defRPr>
            </a:pPr>
            <a:r>
              <a:t>Department of Computer Science &amp; Engineering</a:t>
            </a:r>
            <a:br/>
            <a:r>
              <a:t>KL University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463040"/>
            <a:ext cx="3657600" cy="4480560"/>
          </a:xfrm>
          <a:prstGeom prst="rect">
            <a:avLst/>
          </a:prstGeom>
          <a:solidFill>
            <a:srgbClr val="0A2540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291840" cy="2050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 panose="020B0502040204020203"/>
              </a:defRPr>
            </a:pPr>
            <a:r>
              <a:t>Presented By:</a:t>
            </a:r>
          </a:p>
          <a:p>
            <a:pPr>
              <a:spcBef>
                <a:spcPts val="800"/>
              </a:spcBef>
              <a:defRPr sz="1150" b="1">
                <a:solidFill>
                  <a:srgbClr val="FFFFFF"/>
                </a:solidFill>
                <a:latin typeface="Segoe UI" panose="020B0502040204020203"/>
              </a:defRPr>
            </a:pPr>
            <a:r>
              <a:t>•  </a:t>
            </a:r>
            <a:r>
              <a:rPr lang="en-US"/>
              <a:t>2510030290 - Hanish</a:t>
            </a:r>
          </a:p>
          <a:p>
            <a:pPr>
              <a:spcBef>
                <a:spcPts val="800"/>
              </a:spcBef>
              <a:defRPr sz="1150" b="1">
                <a:solidFill>
                  <a:srgbClr val="FFFFFF"/>
                </a:solidFill>
                <a:latin typeface="Segoe UI" panose="020B0502040204020203"/>
              </a:defRPr>
            </a:pPr>
            <a:r>
              <a:t>•  </a:t>
            </a:r>
            <a:r>
              <a:rPr>
                <a:sym typeface="+mn-ea"/>
              </a:rPr>
              <a:t>2510030289 - Sharath</a:t>
            </a:r>
            <a:r>
              <a:rPr lang="en-US">
                <a:sym typeface="+mn-ea"/>
              </a:rPr>
              <a:t> </a:t>
            </a:r>
          </a:p>
          <a:p>
            <a:pPr>
              <a:spcBef>
                <a:spcPts val="800"/>
              </a:spcBef>
              <a:defRPr sz="1150" b="0">
                <a:solidFill>
                  <a:srgbClr val="CBD5E0"/>
                </a:solidFill>
                <a:latin typeface="Segoe UI" panose="020B0502040204020203"/>
              </a:defRPr>
            </a:pPr>
            <a:r>
              <a:t>•  2510030415 - Anish </a:t>
            </a:r>
          </a:p>
          <a:p>
            <a:pPr>
              <a:spcBef>
                <a:spcPts val="800"/>
              </a:spcBef>
              <a:defRPr sz="1150" b="0">
                <a:solidFill>
                  <a:srgbClr val="CBD5E0"/>
                </a:solidFill>
                <a:latin typeface="Segoe UI" panose="020B0502040204020203"/>
              </a:defRPr>
            </a:pPr>
            <a:r>
              <a:t>•  2510030110 - Rishi Teja </a:t>
            </a:r>
          </a:p>
          <a:p>
            <a:pPr>
              <a:spcBef>
                <a:spcPts val="1400"/>
              </a:spcBef>
              <a:defRPr sz="1000">
                <a:solidFill>
                  <a:srgbClr val="2B6CB0"/>
                </a:solidFill>
                <a:latin typeface="Segoe UI" panose="020B0502040204020203"/>
              </a:defRPr>
            </a:pPr>
            <a:br/>
            <a:r>
              <a:t>Department of Computer Science &amp; Engineering</a:t>
            </a:r>
            <a:br/>
            <a:r>
              <a:t>KL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00800"/>
            <a:ext cx="1280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18096"/>
                </a:solidFill>
                <a:latin typeface="Segoe UI" panose="020B0502040204020203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12143</Words>
  <Application>WPS Presentation</Application>
  <PresentationFormat>On-screen Show (16:9)</PresentationFormat>
  <Paragraphs>448</Paragraphs>
  <Slides>12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Segoe UI</vt:lpstr>
      <vt:lpstr>Segoe UI</vt:lpstr>
      <vt:lpstr>Segoe UI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Sharath rayanolla</cp:lastModifiedBy>
  <cp:revision>4</cp:revision>
  <dcterms:created xsi:type="dcterms:W3CDTF">2026-08-04T12:28:00Z</dcterms:created>
  <dcterms:modified xsi:type="dcterms:W3CDTF">2026-10-07T04:45:17Z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1D86A9AE45B14F8BBE98F18BC6EAB747_12</vt:lpwstr>
  </property>
</Properties>
</file>